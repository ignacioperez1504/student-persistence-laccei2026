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9" r:id="rId6"/>
    <p:sldId id="264" r:id="rId7"/>
    <p:sldId id="263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5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63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9BF52-089C-4B85-9A4E-BC4D4F55C00A}" type="datetimeFigureOut">
              <a:rPr lang="es-CO" smtClean="0"/>
              <a:t>13/07/2026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EDB0F-5AE2-42E7-829E-B28F473A08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109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punto de partida de esta investigación es un problema que no es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exclusivo de Colombia: la deserción estudiantil en educación superior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América Latina se ubica entre el cuarenta y el cincuenta por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ciento. Es decir, uno de cada dos estudiantes que ingresa a una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carrera universitaria no la termina.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el caso de las ingenierías, esto se agrava. La alta exigencia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técnica, la progresión en dificultad de semestre a semestre, y la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concentración del abandono en los primeros años hacen de este un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problema prioritario. El impacto no es solo académico: tiene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consecuencias económicas y sociales directas para las familias y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las instituciones.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particular, este estudio se desarrolló en el Instituto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Tecnológico Metropolitano de Medellín, con datos del Programa de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Ingeniería en Desarrollo de Software, cubriendo siete semestres</a:t>
            </a:r>
          </a:p>
          <a:p>
            <a:r>
              <a:rPr lang="es-CO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académicos, del 2022-1 al 2024-1.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9EDB0F-5AE2-42E7-829E-B28F473A0836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970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yout0_img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3829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42032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b="1" i="0" noProof="0" dirty="0">
                <a:solidFill>
                  <a:srgbClr val="004566"/>
                </a:solidFill>
              </a:rPr>
              <a:t>Rendimiento Académico, Carga Académica y Permanencia Estudiantil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80467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500" b="0" i="1" noProof="0" dirty="0">
                <a:solidFill>
                  <a:srgbClr val="607080"/>
                </a:solidFill>
              </a:rPr>
              <a:t>Un Modelo Longitudinal de Trayectorias Académicas en un Programa de Ingeniería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462272"/>
            <a:ext cx="6400800" cy="1417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1463040" y="4553712"/>
            <a:ext cx="62179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noProof="0" dirty="0">
                <a:solidFill>
                  <a:srgbClr val="1E3A5F"/>
                </a:solidFill>
              </a:rPr>
              <a:t>Ignacio Joaquín Perez   -   Paula Andrea Rodríguez  - Laura Stella Vega</a:t>
            </a:r>
            <a:endParaRPr lang="es-CO" sz="1600" b="1" i="0" noProof="0" dirty="0">
              <a:solidFill>
                <a:srgbClr val="1E3A5F"/>
              </a:solidFill>
            </a:endParaRPr>
          </a:p>
          <a:p>
            <a:pPr algn="ctr"/>
            <a:r>
              <a:rPr lang="es-CO" sz="1400" b="0" i="0" noProof="0" dirty="0">
                <a:solidFill>
                  <a:srgbClr val="000000"/>
                </a:solidFill>
              </a:rPr>
              <a:t>Institución Universitaria ITM</a:t>
            </a:r>
          </a:p>
          <a:p>
            <a:pPr algn="ctr"/>
            <a:r>
              <a:rPr lang="es-CO" sz="1400" b="0" i="0" noProof="0" dirty="0">
                <a:solidFill>
                  <a:srgbClr val="607080"/>
                </a:solidFill>
              </a:rPr>
              <a:t>Medellín, Colombia</a:t>
            </a:r>
          </a:p>
        </p:txBody>
      </p:sp>
      <p:sp>
        <p:nvSpPr>
          <p:cNvPr id="9" name="Rectangle 998">
            <a:extLst>
              <a:ext uri="{FF2B5EF4-FFF2-40B4-BE49-F238E27FC236}">
                <a16:creationId xmlns:a16="http://schemas.microsoft.com/office/drawing/2014/main" id="{1EF42671-4468-6704-D8A0-D7BB3299E745}"/>
              </a:ext>
            </a:extLst>
          </p:cNvPr>
          <p:cNvSpPr/>
          <p:nvPr/>
        </p:nvSpPr>
        <p:spPr>
          <a:xfrm>
            <a:off x="0" y="6454748"/>
            <a:ext cx="9144000" cy="4032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CO" sz="900" b="1" i="0" noProof="0" dirty="0">
                <a:solidFill>
                  <a:srgbClr val="FFFFFF"/>
                </a:solidFill>
              </a:rPr>
              <a:t>The OAS Summit </a:t>
            </a:r>
            <a:r>
              <a:rPr lang="es-CO" sz="900" b="1" i="0" noProof="0" dirty="0" err="1">
                <a:solidFill>
                  <a:srgbClr val="FFFFFF"/>
                </a:solidFill>
              </a:rPr>
              <a:t>of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for</a:t>
            </a:r>
            <a:r>
              <a:rPr lang="es-CO" sz="900" b="1" i="0" noProof="0" dirty="0">
                <a:solidFill>
                  <a:srgbClr val="FFFFFF"/>
                </a:solidFill>
              </a:rPr>
              <a:t> the Americas. </a:t>
            </a:r>
            <a:r>
              <a:rPr lang="es-CO" sz="900" b="0" i="0" noProof="0" dirty="0">
                <a:solidFill>
                  <a:srgbClr val="FFFFFF"/>
                </a:solidFill>
              </a:rPr>
              <a:t>24th LACCEI International </a:t>
            </a:r>
            <a:r>
              <a:rPr lang="es-CO" sz="1000" b="0" i="0" noProof="0" dirty="0">
                <a:solidFill>
                  <a:srgbClr val="FFFFFF"/>
                </a:solidFill>
              </a:rPr>
              <a:t>Multi-</a:t>
            </a:r>
            <a:r>
              <a:rPr lang="es-CO" sz="1000" b="0" i="0" noProof="0" dirty="0" err="1">
                <a:solidFill>
                  <a:srgbClr val="FFFFFF"/>
                </a:solidFill>
              </a:rPr>
              <a:t>Conference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for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0" noProof="0" dirty="0">
                <a:solidFill>
                  <a:srgbClr val="FFFFFF"/>
                </a:solidFill>
              </a:rPr>
              <a:t>, </a:t>
            </a:r>
            <a:r>
              <a:rPr lang="es-CO" sz="900" b="0" i="0" noProof="0" dirty="0" err="1">
                <a:solidFill>
                  <a:srgbClr val="FFFFFF"/>
                </a:solidFill>
              </a:rPr>
              <a:t>Education</a:t>
            </a:r>
            <a:r>
              <a:rPr lang="es-CO" sz="900" b="0" i="0" noProof="0" dirty="0">
                <a:solidFill>
                  <a:srgbClr val="FFFFFF"/>
                </a:solidFill>
              </a:rPr>
              <a:t>, and </a:t>
            </a:r>
            <a:r>
              <a:rPr lang="es-CO" sz="900" b="0" i="0" noProof="0" dirty="0" err="1">
                <a:solidFill>
                  <a:srgbClr val="FFFFFF"/>
                </a:solidFill>
              </a:rPr>
              <a:t>Technology</a:t>
            </a:r>
            <a:r>
              <a:rPr lang="es-CO" sz="900" b="0" i="0" noProof="0" dirty="0">
                <a:solidFill>
                  <a:srgbClr val="FFFFFF"/>
                </a:solidFill>
              </a:rPr>
              <a:t>: </a:t>
            </a:r>
            <a:r>
              <a:rPr lang="es-CO" sz="900" b="0" i="1" noProof="0" dirty="0">
                <a:solidFill>
                  <a:srgbClr val="FFFFFF"/>
                </a:solidFill>
              </a:rPr>
              <a:t>“</a:t>
            </a:r>
            <a:r>
              <a:rPr lang="es-CO" sz="900" b="0" i="1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without</a:t>
            </a:r>
            <a:endParaRPr lang="es-CO" sz="900" b="0" i="1" noProof="0" dirty="0">
              <a:solidFill>
                <a:srgbClr val="FFFFFF"/>
              </a:solidFill>
            </a:endParaRPr>
          </a:p>
          <a:p>
            <a:pPr algn="ctr"/>
            <a:r>
              <a:rPr lang="es-CO" sz="900" b="0" i="1" noProof="0" dirty="0">
                <a:solidFill>
                  <a:srgbClr val="FFFFFF"/>
                </a:solidFill>
              </a:rPr>
              <a:t> Borders: Artificial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Intelligence</a:t>
            </a:r>
            <a:r>
              <a:rPr lang="es-CO" sz="900" b="0" i="1" noProof="0" dirty="0">
                <a:solidFill>
                  <a:srgbClr val="FFFFFF"/>
                </a:solidFill>
              </a:rPr>
              <a:t>, Knowledge,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Innovation</a:t>
            </a:r>
            <a:r>
              <a:rPr lang="es-CO" sz="900" b="0" i="1" noProof="0" dirty="0">
                <a:solidFill>
                  <a:srgbClr val="FFFFFF"/>
                </a:solidFill>
              </a:rPr>
              <a:t>, and </a:t>
            </a:r>
            <a:r>
              <a:rPr lang="es-CO" sz="900" b="0" i="1" noProof="0" dirty="0" err="1">
                <a:solidFill>
                  <a:srgbClr val="FFFFFF"/>
                </a:solidFill>
              </a:rPr>
              <a:t>Alliances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for</a:t>
            </a:r>
            <a:r>
              <a:rPr lang="es-CO" sz="900" b="0" i="1" noProof="0" dirty="0">
                <a:solidFill>
                  <a:srgbClr val="FFFFFF"/>
                </a:solidFill>
              </a:rPr>
              <a:t> a Future </a:t>
            </a:r>
            <a:r>
              <a:rPr lang="es-CO" sz="900" b="0" i="1" noProof="0" dirty="0" err="1">
                <a:solidFill>
                  <a:srgbClr val="FFFFFF"/>
                </a:solidFill>
              </a:rPr>
              <a:t>from</a:t>
            </a:r>
            <a:r>
              <a:rPr lang="es-CO" sz="900" b="0" i="1" noProof="0" dirty="0">
                <a:solidFill>
                  <a:srgbClr val="FFFFFF"/>
                </a:solidFill>
              </a:rPr>
              <a:t> the Americas”</a:t>
            </a:r>
            <a:r>
              <a:rPr lang="es-CO" sz="900" b="0" i="0" noProof="0" dirty="0">
                <a:solidFill>
                  <a:srgbClr val="FFFFFF"/>
                </a:solidFill>
              </a:rPr>
              <a:t>. </a:t>
            </a:r>
            <a:r>
              <a:rPr lang="es-CO" sz="900" b="0" i="0" noProof="0" dirty="0" err="1">
                <a:solidFill>
                  <a:srgbClr val="FFFFFF"/>
                </a:solidFill>
              </a:rPr>
              <a:t>Hybrid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Event</a:t>
            </a:r>
            <a:r>
              <a:rPr lang="es-CO" sz="900" b="0" i="0" noProof="0" dirty="0">
                <a:solidFill>
                  <a:srgbClr val="FFFFFF"/>
                </a:solidFill>
              </a:rPr>
              <a:t>, Santiago-Chile, </a:t>
            </a:r>
            <a:r>
              <a:rPr lang="es-CO" sz="900" b="0" i="0" noProof="0" dirty="0" err="1">
                <a:solidFill>
                  <a:srgbClr val="FFFFFF"/>
                </a:solidFill>
              </a:rPr>
              <a:t>July</a:t>
            </a:r>
            <a:r>
              <a:rPr lang="es-CO" sz="900" b="0" i="0" noProof="0" dirty="0">
                <a:solidFill>
                  <a:srgbClr val="FFFFFF"/>
                </a:solidFill>
              </a:rPr>
              <a:t> 15 - 17,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00">
            <a:extLst>
              <a:ext uri="{FF2B5EF4-FFF2-40B4-BE49-F238E27FC236}">
                <a16:creationId xmlns:a16="http://schemas.microsoft.com/office/drawing/2014/main" id="{53675864-BF6C-74D3-7D64-2AD6690C8B52}"/>
              </a:ext>
            </a:extLst>
          </p:cNvPr>
          <p:cNvSpPr/>
          <p:nvPr/>
        </p:nvSpPr>
        <p:spPr>
          <a:xfrm>
            <a:off x="5455169" y="1325879"/>
            <a:ext cx="2827606" cy="2468880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2" name="Picture 1" descr="layout1_img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275" y="63093"/>
            <a:ext cx="1362456" cy="745236"/>
          </a:xfrm>
          <a:prstGeom prst="rect">
            <a:avLst/>
          </a:prstGeom>
        </p:spPr>
      </p:pic>
      <p:sp>
        <p:nvSpPr>
          <p:cNvPr id="998" name="LeftBar"/>
          <p:cNvSpPr/>
          <p:nvPr/>
        </p:nvSpPr>
        <p:spPr>
          <a:xfrm>
            <a:off x="399960" y="365040"/>
            <a:ext cx="0" cy="1978200"/>
          </a:xfrm>
          <a:prstGeom prst="line">
            <a:avLst/>
          </a:prstGeom>
          <a:ln w="57240">
            <a:solidFill>
              <a:srgbClr val="404040"/>
            </a:solidFill>
            <a:miter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00" name="TextBox 999"/>
          <p:cNvSpPr txBox="1"/>
          <p:nvPr/>
        </p:nvSpPr>
        <p:spPr>
          <a:xfrm>
            <a:off x="628192" y="364845"/>
            <a:ext cx="6240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400" b="1" i="0" noProof="0" dirty="0">
                <a:solidFill>
                  <a:srgbClr val="1E3A5F"/>
                </a:solidFill>
              </a:rPr>
              <a:t>Contexto: La Deserción en Educación Superior</a:t>
            </a:r>
          </a:p>
        </p:txBody>
      </p:sp>
      <p:sp>
        <p:nvSpPr>
          <p:cNvPr id="1001" name="Rectangle 1000"/>
          <p:cNvSpPr/>
          <p:nvPr/>
        </p:nvSpPr>
        <p:spPr>
          <a:xfrm>
            <a:off x="777240" y="1325879"/>
            <a:ext cx="2827606" cy="2468880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2" name="TextBox 1001"/>
          <p:cNvSpPr txBox="1"/>
          <p:nvPr/>
        </p:nvSpPr>
        <p:spPr>
          <a:xfrm>
            <a:off x="937681" y="1589187"/>
            <a:ext cx="246888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noProof="0" dirty="0"/>
              <a:t>  </a:t>
            </a:r>
            <a:r>
              <a:rPr lang="es-CO" sz="3200" noProof="0" dirty="0">
                <a:solidFill>
                  <a:schemeClr val="bg1"/>
                </a:solidFill>
              </a:rPr>
              <a:t>~</a:t>
            </a:r>
            <a:r>
              <a:rPr lang="es-CO" sz="4400" b="1" i="0" noProof="0" dirty="0">
                <a:solidFill>
                  <a:srgbClr val="FFFFFF"/>
                </a:solidFill>
              </a:rPr>
              <a:t>50%</a:t>
            </a:r>
          </a:p>
          <a:p>
            <a:pPr algn="ctr"/>
            <a:r>
              <a:rPr lang="es-CO" b="0" i="0" noProof="0" dirty="0">
                <a:solidFill>
                  <a:srgbClr val="FFFFFF"/>
                </a:solidFill>
              </a:rPr>
              <a:t>De estudiantes no culminan la educación superior en </a:t>
            </a:r>
            <a:r>
              <a:rPr lang="es-CO" b="0" i="0" noProof="0" dirty="0" err="1">
                <a:solidFill>
                  <a:srgbClr val="FFFFFF"/>
                </a:solidFill>
              </a:rPr>
              <a:t>Amér</a:t>
            </a:r>
            <a:r>
              <a:rPr lang="es-CO" dirty="0">
                <a:solidFill>
                  <a:srgbClr val="FFFFFF"/>
                </a:solidFill>
              </a:rPr>
              <a:t>i</a:t>
            </a:r>
            <a:r>
              <a:rPr lang="es-CO" b="0" i="0" noProof="0" dirty="0">
                <a:solidFill>
                  <a:srgbClr val="FFFFFF"/>
                </a:solidFill>
              </a:rPr>
              <a:t>ca Latina (UNESCO, 2021)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5552095" y="1558071"/>
            <a:ext cx="26337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noProof="0" dirty="0">
                <a:solidFill>
                  <a:schemeClr val="bg1"/>
                </a:solidFill>
              </a:rPr>
              <a:t>La naturaleza progresiva de la ingeniería hace que los primeros semestres sean el momento más crítico y el más estratégico para intervenir</a:t>
            </a:r>
            <a:r>
              <a:rPr lang="es-CO" sz="1600" noProof="0" dirty="0">
                <a:solidFill>
                  <a:schemeClr val="bg1"/>
                </a:solidFill>
              </a:rPr>
              <a:t>.</a:t>
            </a:r>
            <a:endParaRPr lang="es-CO" sz="1600" b="0" i="0" noProof="0" dirty="0">
              <a:solidFill>
                <a:schemeClr val="bg1"/>
              </a:solidFill>
            </a:endParaRPr>
          </a:p>
        </p:txBody>
      </p:sp>
      <p:sp>
        <p:nvSpPr>
          <p:cNvPr id="1004" name="Rectangle 1003"/>
          <p:cNvSpPr/>
          <p:nvPr/>
        </p:nvSpPr>
        <p:spPr>
          <a:xfrm>
            <a:off x="628192" y="4213274"/>
            <a:ext cx="7886700" cy="178112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5" name="TextBox 1004"/>
          <p:cNvSpPr txBox="1"/>
          <p:nvPr/>
        </p:nvSpPr>
        <p:spPr>
          <a:xfrm>
            <a:off x="781584" y="4354292"/>
            <a:ext cx="75011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b="1" i="0" noProof="0" dirty="0">
                <a:solidFill>
                  <a:srgbClr val="1E3A5F"/>
                </a:solidFill>
              </a:rPr>
              <a:t>Contexto institucional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>
                <a:solidFill>
                  <a:srgbClr val="000000"/>
                </a:solidFill>
              </a:rPr>
              <a:t>Institución Universitaria ITM</a:t>
            </a:r>
            <a:r>
              <a:rPr lang="es-CO" b="0" i="0" noProof="0" dirty="0"/>
              <a:t>, </a:t>
            </a:r>
            <a:r>
              <a:rPr lang="es-CO" dirty="0"/>
              <a:t>Medellin, Colombia</a:t>
            </a:r>
            <a:endParaRPr lang="es-CO" b="0" i="0" noProof="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O" dirty="0"/>
              <a:t>Programa Ingeniería en Desarrollo de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7 semestres de datos académicos (2022-1 a 2025-1)</a:t>
            </a:r>
          </a:p>
        </p:txBody>
      </p:sp>
      <p:sp>
        <p:nvSpPr>
          <p:cNvPr id="4" name="Rectangle 998">
            <a:extLst>
              <a:ext uri="{FF2B5EF4-FFF2-40B4-BE49-F238E27FC236}">
                <a16:creationId xmlns:a16="http://schemas.microsoft.com/office/drawing/2014/main" id="{B79807C3-F69B-0464-7ECB-6CE21264AF72}"/>
              </a:ext>
            </a:extLst>
          </p:cNvPr>
          <p:cNvSpPr/>
          <p:nvPr/>
        </p:nvSpPr>
        <p:spPr>
          <a:xfrm>
            <a:off x="0" y="6454748"/>
            <a:ext cx="9144000" cy="4032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CO" sz="900" b="1" i="0" noProof="0" dirty="0">
                <a:solidFill>
                  <a:srgbClr val="FFFFFF"/>
                </a:solidFill>
              </a:rPr>
              <a:t>The OAS Summit </a:t>
            </a:r>
            <a:r>
              <a:rPr lang="es-CO" sz="900" b="1" i="0" noProof="0" dirty="0" err="1">
                <a:solidFill>
                  <a:srgbClr val="FFFFFF"/>
                </a:solidFill>
              </a:rPr>
              <a:t>of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for</a:t>
            </a:r>
            <a:r>
              <a:rPr lang="es-CO" sz="900" b="1" i="0" noProof="0" dirty="0">
                <a:solidFill>
                  <a:srgbClr val="FFFFFF"/>
                </a:solidFill>
              </a:rPr>
              <a:t> the Americas. </a:t>
            </a:r>
            <a:r>
              <a:rPr lang="es-CO" sz="900" b="0" i="0" noProof="0" dirty="0">
                <a:solidFill>
                  <a:srgbClr val="FFFFFF"/>
                </a:solidFill>
              </a:rPr>
              <a:t>24th LACCEI International </a:t>
            </a:r>
            <a:r>
              <a:rPr lang="es-CO" sz="1000" b="0" i="0" noProof="0" dirty="0">
                <a:solidFill>
                  <a:srgbClr val="FFFFFF"/>
                </a:solidFill>
              </a:rPr>
              <a:t>Multi-</a:t>
            </a:r>
            <a:r>
              <a:rPr lang="es-CO" sz="1000" b="0" i="0" noProof="0" dirty="0" err="1">
                <a:solidFill>
                  <a:srgbClr val="FFFFFF"/>
                </a:solidFill>
              </a:rPr>
              <a:t>Conference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for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0" noProof="0" dirty="0">
                <a:solidFill>
                  <a:srgbClr val="FFFFFF"/>
                </a:solidFill>
              </a:rPr>
              <a:t>, </a:t>
            </a:r>
            <a:r>
              <a:rPr lang="es-CO" sz="900" b="0" i="0" noProof="0" dirty="0" err="1">
                <a:solidFill>
                  <a:srgbClr val="FFFFFF"/>
                </a:solidFill>
              </a:rPr>
              <a:t>Education</a:t>
            </a:r>
            <a:r>
              <a:rPr lang="es-CO" sz="900" b="0" i="0" noProof="0" dirty="0">
                <a:solidFill>
                  <a:srgbClr val="FFFFFF"/>
                </a:solidFill>
              </a:rPr>
              <a:t>, and </a:t>
            </a:r>
            <a:r>
              <a:rPr lang="es-CO" sz="900" b="0" i="0" noProof="0" dirty="0" err="1">
                <a:solidFill>
                  <a:srgbClr val="FFFFFF"/>
                </a:solidFill>
              </a:rPr>
              <a:t>Technology</a:t>
            </a:r>
            <a:r>
              <a:rPr lang="es-CO" sz="900" b="0" i="0" noProof="0" dirty="0">
                <a:solidFill>
                  <a:srgbClr val="FFFFFF"/>
                </a:solidFill>
              </a:rPr>
              <a:t>: </a:t>
            </a:r>
            <a:r>
              <a:rPr lang="es-CO" sz="900" b="0" i="1" noProof="0" dirty="0">
                <a:solidFill>
                  <a:srgbClr val="FFFFFF"/>
                </a:solidFill>
              </a:rPr>
              <a:t>“</a:t>
            </a:r>
            <a:r>
              <a:rPr lang="es-CO" sz="900" b="0" i="1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without</a:t>
            </a:r>
            <a:endParaRPr lang="es-CO" sz="900" b="0" i="1" noProof="0" dirty="0">
              <a:solidFill>
                <a:srgbClr val="FFFFFF"/>
              </a:solidFill>
            </a:endParaRPr>
          </a:p>
          <a:p>
            <a:pPr algn="ctr"/>
            <a:r>
              <a:rPr lang="es-CO" sz="900" b="0" i="1" noProof="0" dirty="0">
                <a:solidFill>
                  <a:srgbClr val="FFFFFF"/>
                </a:solidFill>
              </a:rPr>
              <a:t> Borders: Artificial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Intelligence</a:t>
            </a:r>
            <a:r>
              <a:rPr lang="es-CO" sz="900" b="0" i="1" noProof="0" dirty="0">
                <a:solidFill>
                  <a:srgbClr val="FFFFFF"/>
                </a:solidFill>
              </a:rPr>
              <a:t>, Knowledge,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Innovation</a:t>
            </a:r>
            <a:r>
              <a:rPr lang="es-CO" sz="900" b="0" i="1" noProof="0" dirty="0">
                <a:solidFill>
                  <a:srgbClr val="FFFFFF"/>
                </a:solidFill>
              </a:rPr>
              <a:t>, and </a:t>
            </a:r>
            <a:r>
              <a:rPr lang="es-CO" sz="900" b="0" i="1" noProof="0" dirty="0" err="1">
                <a:solidFill>
                  <a:srgbClr val="FFFFFF"/>
                </a:solidFill>
              </a:rPr>
              <a:t>Alliances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for</a:t>
            </a:r>
            <a:r>
              <a:rPr lang="es-CO" sz="900" b="0" i="1" noProof="0" dirty="0">
                <a:solidFill>
                  <a:srgbClr val="FFFFFF"/>
                </a:solidFill>
              </a:rPr>
              <a:t> a Future </a:t>
            </a:r>
            <a:r>
              <a:rPr lang="es-CO" sz="900" b="0" i="1" noProof="0" dirty="0" err="1">
                <a:solidFill>
                  <a:srgbClr val="FFFFFF"/>
                </a:solidFill>
              </a:rPr>
              <a:t>from</a:t>
            </a:r>
            <a:r>
              <a:rPr lang="es-CO" sz="900" b="0" i="1" noProof="0" dirty="0">
                <a:solidFill>
                  <a:srgbClr val="FFFFFF"/>
                </a:solidFill>
              </a:rPr>
              <a:t> the Americas”</a:t>
            </a:r>
            <a:r>
              <a:rPr lang="es-CO" sz="900" b="0" i="0" noProof="0" dirty="0">
                <a:solidFill>
                  <a:srgbClr val="FFFFFF"/>
                </a:solidFill>
              </a:rPr>
              <a:t>. </a:t>
            </a:r>
            <a:r>
              <a:rPr lang="es-CO" sz="900" b="0" i="0" noProof="0" dirty="0" err="1">
                <a:solidFill>
                  <a:srgbClr val="FFFFFF"/>
                </a:solidFill>
              </a:rPr>
              <a:t>Hybrid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Event</a:t>
            </a:r>
            <a:r>
              <a:rPr lang="es-CO" sz="900" b="0" i="0" noProof="0" dirty="0">
                <a:solidFill>
                  <a:srgbClr val="FFFFFF"/>
                </a:solidFill>
              </a:rPr>
              <a:t>, Santiago-Chile, </a:t>
            </a:r>
            <a:r>
              <a:rPr lang="es-CO" sz="900" b="0" i="0" noProof="0" dirty="0" err="1">
                <a:solidFill>
                  <a:srgbClr val="FFFFFF"/>
                </a:solidFill>
              </a:rPr>
              <a:t>July</a:t>
            </a:r>
            <a:r>
              <a:rPr lang="es-CO" sz="900" b="0" i="0" noProof="0" dirty="0">
                <a:solidFill>
                  <a:srgbClr val="FFFFFF"/>
                </a:solidFill>
              </a:rPr>
              <a:t> 15 - 17, 2026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E34F6C39-9BB2-38AA-ABB5-9FC153A5F17D}"/>
              </a:ext>
            </a:extLst>
          </p:cNvPr>
          <p:cNvCxnSpPr>
            <a:cxnSpLocks/>
          </p:cNvCxnSpPr>
          <p:nvPr/>
        </p:nvCxnSpPr>
        <p:spPr>
          <a:xfrm>
            <a:off x="3774114" y="2844685"/>
            <a:ext cx="1389605" cy="0"/>
          </a:xfrm>
          <a:prstGeom prst="straightConnector1">
            <a:avLst/>
          </a:prstGeom>
          <a:ln w="53975">
            <a:solidFill>
              <a:srgbClr val="0045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EA8DFC7-6CEE-541E-8838-C26FB69A3628}"/>
              </a:ext>
            </a:extLst>
          </p:cNvPr>
          <p:cNvSpPr txBox="1"/>
          <p:nvPr/>
        </p:nvSpPr>
        <p:spPr>
          <a:xfrm>
            <a:off x="3707556" y="2258708"/>
            <a:ext cx="1588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>
                <a:solidFill>
                  <a:srgbClr val="004566"/>
                </a:solidFill>
              </a:rPr>
              <a:t>¿Y en ingeniería?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yout1_im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75" y="63093"/>
            <a:ext cx="1362456" cy="745236"/>
          </a:xfrm>
          <a:prstGeom prst="rect">
            <a:avLst/>
          </a:prstGeom>
        </p:spPr>
      </p:pic>
      <p:sp>
        <p:nvSpPr>
          <p:cNvPr id="998" name="LeftBar"/>
          <p:cNvSpPr/>
          <p:nvPr/>
        </p:nvSpPr>
        <p:spPr>
          <a:xfrm>
            <a:off x="399960" y="365040"/>
            <a:ext cx="0" cy="1978200"/>
          </a:xfrm>
          <a:prstGeom prst="line">
            <a:avLst/>
          </a:prstGeom>
          <a:ln w="57240">
            <a:solidFill>
              <a:srgbClr val="404040"/>
            </a:solidFill>
            <a:miter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00" name="TextBox 999"/>
          <p:cNvSpPr txBox="1"/>
          <p:nvPr/>
        </p:nvSpPr>
        <p:spPr>
          <a:xfrm>
            <a:off x="628192" y="364845"/>
            <a:ext cx="6240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400" b="1" i="0" noProof="0" dirty="0">
                <a:solidFill>
                  <a:srgbClr val="1E3A5F"/>
                </a:solidFill>
              </a:rPr>
              <a:t>Pregunta de Investigación y Objetivo</a:t>
            </a:r>
          </a:p>
        </p:txBody>
      </p:sp>
      <p:sp>
        <p:nvSpPr>
          <p:cNvPr id="1001" name="Rectangle 1000"/>
          <p:cNvSpPr/>
          <p:nvPr/>
        </p:nvSpPr>
        <p:spPr>
          <a:xfrm>
            <a:off x="628192" y="1428840"/>
            <a:ext cx="788670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2" name="TextBox 1001"/>
          <p:cNvSpPr txBox="1"/>
          <p:nvPr/>
        </p:nvSpPr>
        <p:spPr>
          <a:xfrm>
            <a:off x="811072" y="1989297"/>
            <a:ext cx="74295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i="0" noProof="0" dirty="0">
                <a:solidFill>
                  <a:srgbClr val="FFFFFF"/>
                </a:solidFill>
              </a:rPr>
              <a:t>¿Cuál es la relación entre el rendimiento académico acumulado,</a:t>
            </a:r>
          </a:p>
          <a:p>
            <a:pPr algn="ctr"/>
            <a:r>
              <a:rPr lang="es-CO" sz="2000" b="1" i="0" noProof="0" dirty="0">
                <a:solidFill>
                  <a:srgbClr val="FFFFFF"/>
                </a:solidFill>
              </a:rPr>
              <a:t>la carga académica y la probabilidad de permanencia estudiantil?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628192" y="3858768"/>
            <a:ext cx="7886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000" b="1" i="0" noProof="0" dirty="0">
                <a:solidFill>
                  <a:srgbClr val="007994"/>
                </a:solidFill>
              </a:rPr>
              <a:t>Objetivo del estudio</a:t>
            </a:r>
          </a:p>
        </p:txBody>
      </p:sp>
      <p:sp>
        <p:nvSpPr>
          <p:cNvPr id="1004" name="Rectangle 1003"/>
          <p:cNvSpPr/>
          <p:nvPr/>
        </p:nvSpPr>
        <p:spPr>
          <a:xfrm>
            <a:off x="628192" y="4297680"/>
            <a:ext cx="7886700" cy="15824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5" name="TextBox 1004"/>
          <p:cNvSpPr txBox="1"/>
          <p:nvPr/>
        </p:nvSpPr>
        <p:spPr>
          <a:xfrm>
            <a:off x="811072" y="4528820"/>
            <a:ext cx="75209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Construir trayectorias académicas longitudinales y evaluar si la tasa de aprobación acumulada permite predecir la permanencia estudiantil, a partir de registros académicos históricos de la institución.</a:t>
            </a:r>
            <a:endParaRPr lang="es-CO" b="0" i="0" noProof="0" dirty="0"/>
          </a:p>
        </p:txBody>
      </p:sp>
      <p:sp>
        <p:nvSpPr>
          <p:cNvPr id="4" name="Rectangle 998">
            <a:extLst>
              <a:ext uri="{FF2B5EF4-FFF2-40B4-BE49-F238E27FC236}">
                <a16:creationId xmlns:a16="http://schemas.microsoft.com/office/drawing/2014/main" id="{22F6D1EB-97E1-02CA-4CDB-2078AAA9F8B3}"/>
              </a:ext>
            </a:extLst>
          </p:cNvPr>
          <p:cNvSpPr/>
          <p:nvPr/>
        </p:nvSpPr>
        <p:spPr>
          <a:xfrm>
            <a:off x="0" y="6454748"/>
            <a:ext cx="9144000" cy="4032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CO" sz="900" b="1" i="0" noProof="0" dirty="0">
                <a:solidFill>
                  <a:srgbClr val="FFFFFF"/>
                </a:solidFill>
              </a:rPr>
              <a:t>The OAS Summit </a:t>
            </a:r>
            <a:r>
              <a:rPr lang="es-CO" sz="900" b="1" i="0" noProof="0" dirty="0" err="1">
                <a:solidFill>
                  <a:srgbClr val="FFFFFF"/>
                </a:solidFill>
              </a:rPr>
              <a:t>of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for</a:t>
            </a:r>
            <a:r>
              <a:rPr lang="es-CO" sz="900" b="1" i="0" noProof="0" dirty="0">
                <a:solidFill>
                  <a:srgbClr val="FFFFFF"/>
                </a:solidFill>
              </a:rPr>
              <a:t> the Americas. </a:t>
            </a:r>
            <a:r>
              <a:rPr lang="es-CO" sz="900" b="0" i="0" noProof="0" dirty="0">
                <a:solidFill>
                  <a:srgbClr val="FFFFFF"/>
                </a:solidFill>
              </a:rPr>
              <a:t>24th LACCEI International </a:t>
            </a:r>
            <a:r>
              <a:rPr lang="es-CO" sz="1000" b="0" i="0" noProof="0" dirty="0">
                <a:solidFill>
                  <a:srgbClr val="FFFFFF"/>
                </a:solidFill>
              </a:rPr>
              <a:t>Multi-</a:t>
            </a:r>
            <a:r>
              <a:rPr lang="es-CO" sz="1000" b="0" i="0" noProof="0" dirty="0" err="1">
                <a:solidFill>
                  <a:srgbClr val="FFFFFF"/>
                </a:solidFill>
              </a:rPr>
              <a:t>Conference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for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0" noProof="0" dirty="0">
                <a:solidFill>
                  <a:srgbClr val="FFFFFF"/>
                </a:solidFill>
              </a:rPr>
              <a:t>, </a:t>
            </a:r>
            <a:r>
              <a:rPr lang="es-CO" sz="900" b="0" i="0" noProof="0" dirty="0" err="1">
                <a:solidFill>
                  <a:srgbClr val="FFFFFF"/>
                </a:solidFill>
              </a:rPr>
              <a:t>Education</a:t>
            </a:r>
            <a:r>
              <a:rPr lang="es-CO" sz="900" b="0" i="0" noProof="0" dirty="0">
                <a:solidFill>
                  <a:srgbClr val="FFFFFF"/>
                </a:solidFill>
              </a:rPr>
              <a:t>, and </a:t>
            </a:r>
            <a:r>
              <a:rPr lang="es-CO" sz="900" b="0" i="0" noProof="0" dirty="0" err="1">
                <a:solidFill>
                  <a:srgbClr val="FFFFFF"/>
                </a:solidFill>
              </a:rPr>
              <a:t>Technology</a:t>
            </a:r>
            <a:r>
              <a:rPr lang="es-CO" sz="900" b="0" i="0" noProof="0" dirty="0">
                <a:solidFill>
                  <a:srgbClr val="FFFFFF"/>
                </a:solidFill>
              </a:rPr>
              <a:t>: </a:t>
            </a:r>
            <a:r>
              <a:rPr lang="es-CO" sz="900" b="0" i="1" noProof="0" dirty="0">
                <a:solidFill>
                  <a:srgbClr val="FFFFFF"/>
                </a:solidFill>
              </a:rPr>
              <a:t>“</a:t>
            </a:r>
            <a:r>
              <a:rPr lang="es-CO" sz="900" b="0" i="1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without</a:t>
            </a:r>
            <a:endParaRPr lang="es-CO" sz="900" b="0" i="1" noProof="0" dirty="0">
              <a:solidFill>
                <a:srgbClr val="FFFFFF"/>
              </a:solidFill>
            </a:endParaRPr>
          </a:p>
          <a:p>
            <a:pPr algn="ctr"/>
            <a:r>
              <a:rPr lang="es-CO" sz="900" b="0" i="1" noProof="0" dirty="0">
                <a:solidFill>
                  <a:srgbClr val="FFFFFF"/>
                </a:solidFill>
              </a:rPr>
              <a:t> Borders: Artificial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Intelligence</a:t>
            </a:r>
            <a:r>
              <a:rPr lang="es-CO" sz="900" b="0" i="1" noProof="0" dirty="0">
                <a:solidFill>
                  <a:srgbClr val="FFFFFF"/>
                </a:solidFill>
              </a:rPr>
              <a:t>, Knowledge,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Innovation</a:t>
            </a:r>
            <a:r>
              <a:rPr lang="es-CO" sz="900" b="0" i="1" noProof="0" dirty="0">
                <a:solidFill>
                  <a:srgbClr val="FFFFFF"/>
                </a:solidFill>
              </a:rPr>
              <a:t>, and </a:t>
            </a:r>
            <a:r>
              <a:rPr lang="es-CO" sz="900" b="0" i="1" noProof="0" dirty="0" err="1">
                <a:solidFill>
                  <a:srgbClr val="FFFFFF"/>
                </a:solidFill>
              </a:rPr>
              <a:t>Alliances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for</a:t>
            </a:r>
            <a:r>
              <a:rPr lang="es-CO" sz="900" b="0" i="1" noProof="0" dirty="0">
                <a:solidFill>
                  <a:srgbClr val="FFFFFF"/>
                </a:solidFill>
              </a:rPr>
              <a:t> a Future </a:t>
            </a:r>
            <a:r>
              <a:rPr lang="es-CO" sz="900" b="0" i="1" noProof="0" dirty="0" err="1">
                <a:solidFill>
                  <a:srgbClr val="FFFFFF"/>
                </a:solidFill>
              </a:rPr>
              <a:t>from</a:t>
            </a:r>
            <a:r>
              <a:rPr lang="es-CO" sz="900" b="0" i="1" noProof="0" dirty="0">
                <a:solidFill>
                  <a:srgbClr val="FFFFFF"/>
                </a:solidFill>
              </a:rPr>
              <a:t> the Americas”</a:t>
            </a:r>
            <a:r>
              <a:rPr lang="es-CO" sz="900" b="0" i="0" noProof="0" dirty="0">
                <a:solidFill>
                  <a:srgbClr val="FFFFFF"/>
                </a:solidFill>
              </a:rPr>
              <a:t>. </a:t>
            </a:r>
            <a:r>
              <a:rPr lang="es-CO" sz="900" b="0" i="0" noProof="0" dirty="0" err="1">
                <a:solidFill>
                  <a:srgbClr val="FFFFFF"/>
                </a:solidFill>
              </a:rPr>
              <a:t>Hybrid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Event</a:t>
            </a:r>
            <a:r>
              <a:rPr lang="es-CO" sz="900" b="0" i="0" noProof="0" dirty="0">
                <a:solidFill>
                  <a:srgbClr val="FFFFFF"/>
                </a:solidFill>
              </a:rPr>
              <a:t>, Santiago-Chile, </a:t>
            </a:r>
            <a:r>
              <a:rPr lang="es-CO" sz="900" b="0" i="0" noProof="0" dirty="0" err="1">
                <a:solidFill>
                  <a:srgbClr val="FFFFFF"/>
                </a:solidFill>
              </a:rPr>
              <a:t>July</a:t>
            </a:r>
            <a:r>
              <a:rPr lang="es-CO" sz="900" b="0" i="0" noProof="0" dirty="0">
                <a:solidFill>
                  <a:srgbClr val="FFFFFF"/>
                </a:solidFill>
              </a:rPr>
              <a:t> 15 - 17,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yout1_im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75" y="63093"/>
            <a:ext cx="1362456" cy="745236"/>
          </a:xfrm>
          <a:prstGeom prst="rect">
            <a:avLst/>
          </a:prstGeom>
        </p:spPr>
      </p:pic>
      <p:sp>
        <p:nvSpPr>
          <p:cNvPr id="998" name="LeftBar"/>
          <p:cNvSpPr/>
          <p:nvPr/>
        </p:nvSpPr>
        <p:spPr>
          <a:xfrm>
            <a:off x="399960" y="365040"/>
            <a:ext cx="0" cy="1978200"/>
          </a:xfrm>
          <a:prstGeom prst="line">
            <a:avLst/>
          </a:prstGeom>
          <a:ln w="57240">
            <a:solidFill>
              <a:srgbClr val="404040"/>
            </a:solidFill>
            <a:miter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00" name="TextBox 999"/>
          <p:cNvSpPr txBox="1"/>
          <p:nvPr/>
        </p:nvSpPr>
        <p:spPr>
          <a:xfrm>
            <a:off x="628192" y="364845"/>
            <a:ext cx="62407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100" b="1" i="0" noProof="0" dirty="0">
                <a:solidFill>
                  <a:srgbClr val="1E3A5F"/>
                </a:solidFill>
              </a:rPr>
              <a:t>Metodología: Flujo de Trabajo</a:t>
            </a:r>
          </a:p>
        </p:txBody>
      </p:sp>
      <p:sp>
        <p:nvSpPr>
          <p:cNvPr id="1001" name="Rectangle 1000"/>
          <p:cNvSpPr/>
          <p:nvPr/>
        </p:nvSpPr>
        <p:spPr>
          <a:xfrm>
            <a:off x="628192" y="1161759"/>
            <a:ext cx="1755648" cy="566928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2" name="TextBox 1001"/>
          <p:cNvSpPr txBox="1"/>
          <p:nvPr/>
        </p:nvSpPr>
        <p:spPr>
          <a:xfrm>
            <a:off x="628192" y="1161759"/>
            <a:ext cx="1755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03" name="Rectangle 1002"/>
          <p:cNvSpPr/>
          <p:nvPr/>
        </p:nvSpPr>
        <p:spPr>
          <a:xfrm>
            <a:off x="628192" y="1728688"/>
            <a:ext cx="1755648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4" name="TextBox 1003"/>
          <p:cNvSpPr txBox="1"/>
          <p:nvPr/>
        </p:nvSpPr>
        <p:spPr>
          <a:xfrm>
            <a:off x="673912" y="1822099"/>
            <a:ext cx="16642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rgbClr val="FFFFFF"/>
                </a:solidFill>
              </a:rPr>
              <a:t>Fuente de Datos</a:t>
            </a:r>
          </a:p>
        </p:txBody>
      </p:sp>
      <p:sp>
        <p:nvSpPr>
          <p:cNvPr id="1005" name="Rectangle 1004"/>
          <p:cNvSpPr/>
          <p:nvPr/>
        </p:nvSpPr>
        <p:spPr>
          <a:xfrm>
            <a:off x="2383839" y="1161759"/>
            <a:ext cx="6071618" cy="122529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6" name="TextBox 1005"/>
          <p:cNvSpPr txBox="1"/>
          <p:nvPr/>
        </p:nvSpPr>
        <p:spPr>
          <a:xfrm>
            <a:off x="2585081" y="1434211"/>
            <a:ext cx="2046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b="0" i="0" noProof="0" dirty="0">
                <a:solidFill>
                  <a:srgbClr val="004566"/>
                </a:solidFill>
              </a:rPr>
              <a:t>7 Semestres en archivos distintos</a:t>
            </a:r>
          </a:p>
        </p:txBody>
      </p:sp>
      <p:sp>
        <p:nvSpPr>
          <p:cNvPr id="4" name="Rectangle 998">
            <a:extLst>
              <a:ext uri="{FF2B5EF4-FFF2-40B4-BE49-F238E27FC236}">
                <a16:creationId xmlns:a16="http://schemas.microsoft.com/office/drawing/2014/main" id="{D6E240E9-FCE6-3CE1-D1DB-489C38071ED8}"/>
              </a:ext>
            </a:extLst>
          </p:cNvPr>
          <p:cNvSpPr/>
          <p:nvPr/>
        </p:nvSpPr>
        <p:spPr>
          <a:xfrm>
            <a:off x="0" y="6454748"/>
            <a:ext cx="9144000" cy="4032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CO" sz="900" b="1" i="0" noProof="0" dirty="0">
                <a:solidFill>
                  <a:srgbClr val="FFFFFF"/>
                </a:solidFill>
              </a:rPr>
              <a:t>The OAS Summit </a:t>
            </a:r>
            <a:r>
              <a:rPr lang="es-CO" sz="900" b="1" i="0" noProof="0" dirty="0" err="1">
                <a:solidFill>
                  <a:srgbClr val="FFFFFF"/>
                </a:solidFill>
              </a:rPr>
              <a:t>of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for</a:t>
            </a:r>
            <a:r>
              <a:rPr lang="es-CO" sz="900" b="1" i="0" noProof="0" dirty="0">
                <a:solidFill>
                  <a:srgbClr val="FFFFFF"/>
                </a:solidFill>
              </a:rPr>
              <a:t> the Americas. </a:t>
            </a:r>
            <a:r>
              <a:rPr lang="es-CO" sz="900" b="0" i="0" noProof="0" dirty="0">
                <a:solidFill>
                  <a:srgbClr val="FFFFFF"/>
                </a:solidFill>
              </a:rPr>
              <a:t>24th LACCEI International </a:t>
            </a:r>
            <a:r>
              <a:rPr lang="es-CO" sz="1000" b="0" i="0" noProof="0" dirty="0">
                <a:solidFill>
                  <a:srgbClr val="FFFFFF"/>
                </a:solidFill>
              </a:rPr>
              <a:t>Multi-</a:t>
            </a:r>
            <a:r>
              <a:rPr lang="es-CO" sz="1000" b="0" i="0" noProof="0" dirty="0" err="1">
                <a:solidFill>
                  <a:srgbClr val="FFFFFF"/>
                </a:solidFill>
              </a:rPr>
              <a:t>Conference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for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0" noProof="0" dirty="0">
                <a:solidFill>
                  <a:srgbClr val="FFFFFF"/>
                </a:solidFill>
              </a:rPr>
              <a:t>, </a:t>
            </a:r>
            <a:r>
              <a:rPr lang="es-CO" sz="900" b="0" i="0" noProof="0" dirty="0" err="1">
                <a:solidFill>
                  <a:srgbClr val="FFFFFF"/>
                </a:solidFill>
              </a:rPr>
              <a:t>Education</a:t>
            </a:r>
            <a:r>
              <a:rPr lang="es-CO" sz="900" b="0" i="0" noProof="0" dirty="0">
                <a:solidFill>
                  <a:srgbClr val="FFFFFF"/>
                </a:solidFill>
              </a:rPr>
              <a:t>, and </a:t>
            </a:r>
            <a:r>
              <a:rPr lang="es-CO" sz="900" b="0" i="0" noProof="0" dirty="0" err="1">
                <a:solidFill>
                  <a:srgbClr val="FFFFFF"/>
                </a:solidFill>
              </a:rPr>
              <a:t>Technology</a:t>
            </a:r>
            <a:r>
              <a:rPr lang="es-CO" sz="900" b="0" i="0" noProof="0" dirty="0">
                <a:solidFill>
                  <a:srgbClr val="FFFFFF"/>
                </a:solidFill>
              </a:rPr>
              <a:t>: </a:t>
            </a:r>
            <a:r>
              <a:rPr lang="es-CO" sz="900" b="0" i="1" noProof="0" dirty="0">
                <a:solidFill>
                  <a:srgbClr val="FFFFFF"/>
                </a:solidFill>
              </a:rPr>
              <a:t>“</a:t>
            </a:r>
            <a:r>
              <a:rPr lang="es-CO" sz="900" b="0" i="1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without</a:t>
            </a:r>
            <a:endParaRPr lang="es-CO" sz="900" b="0" i="1" noProof="0" dirty="0">
              <a:solidFill>
                <a:srgbClr val="FFFFFF"/>
              </a:solidFill>
            </a:endParaRPr>
          </a:p>
          <a:p>
            <a:pPr algn="ctr"/>
            <a:r>
              <a:rPr lang="es-CO" sz="900" b="0" i="1" noProof="0" dirty="0">
                <a:solidFill>
                  <a:srgbClr val="FFFFFF"/>
                </a:solidFill>
              </a:rPr>
              <a:t> Borders: Artificial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Intelligence</a:t>
            </a:r>
            <a:r>
              <a:rPr lang="es-CO" sz="900" b="0" i="1" noProof="0" dirty="0">
                <a:solidFill>
                  <a:srgbClr val="FFFFFF"/>
                </a:solidFill>
              </a:rPr>
              <a:t>, Knowledge,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Innovation</a:t>
            </a:r>
            <a:r>
              <a:rPr lang="es-CO" sz="900" b="0" i="1" noProof="0" dirty="0">
                <a:solidFill>
                  <a:srgbClr val="FFFFFF"/>
                </a:solidFill>
              </a:rPr>
              <a:t>, and </a:t>
            </a:r>
            <a:r>
              <a:rPr lang="es-CO" sz="900" b="0" i="1" noProof="0" dirty="0" err="1">
                <a:solidFill>
                  <a:srgbClr val="FFFFFF"/>
                </a:solidFill>
              </a:rPr>
              <a:t>Alliances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for</a:t>
            </a:r>
            <a:r>
              <a:rPr lang="es-CO" sz="900" b="0" i="1" noProof="0" dirty="0">
                <a:solidFill>
                  <a:srgbClr val="FFFFFF"/>
                </a:solidFill>
              </a:rPr>
              <a:t> a Future </a:t>
            </a:r>
            <a:r>
              <a:rPr lang="es-CO" sz="900" b="0" i="1" noProof="0" dirty="0" err="1">
                <a:solidFill>
                  <a:srgbClr val="FFFFFF"/>
                </a:solidFill>
              </a:rPr>
              <a:t>from</a:t>
            </a:r>
            <a:r>
              <a:rPr lang="es-CO" sz="900" b="0" i="1" noProof="0" dirty="0">
                <a:solidFill>
                  <a:srgbClr val="FFFFFF"/>
                </a:solidFill>
              </a:rPr>
              <a:t> the Americas”</a:t>
            </a:r>
            <a:r>
              <a:rPr lang="es-CO" sz="900" b="0" i="0" noProof="0" dirty="0">
                <a:solidFill>
                  <a:srgbClr val="FFFFFF"/>
                </a:solidFill>
              </a:rPr>
              <a:t>. </a:t>
            </a:r>
            <a:r>
              <a:rPr lang="es-CO" sz="900" b="0" i="0" noProof="0" dirty="0" err="1">
                <a:solidFill>
                  <a:srgbClr val="FFFFFF"/>
                </a:solidFill>
              </a:rPr>
              <a:t>Hybrid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Event</a:t>
            </a:r>
            <a:r>
              <a:rPr lang="es-CO" sz="900" b="0" i="0" noProof="0" dirty="0">
                <a:solidFill>
                  <a:srgbClr val="FFFFFF"/>
                </a:solidFill>
              </a:rPr>
              <a:t>, Santiago-Chile, </a:t>
            </a:r>
            <a:r>
              <a:rPr lang="es-CO" sz="900" b="0" i="0" noProof="0" dirty="0" err="1">
                <a:solidFill>
                  <a:srgbClr val="FFFFFF"/>
                </a:solidFill>
              </a:rPr>
              <a:t>July</a:t>
            </a:r>
            <a:r>
              <a:rPr lang="es-CO" sz="900" b="0" i="0" noProof="0" dirty="0">
                <a:solidFill>
                  <a:srgbClr val="FFFFFF"/>
                </a:solidFill>
              </a:rPr>
              <a:t> 15 - 17, 2026</a:t>
            </a:r>
          </a:p>
        </p:txBody>
      </p:sp>
      <p:sp>
        <p:nvSpPr>
          <p:cNvPr id="5" name="TextBox 1005">
            <a:extLst>
              <a:ext uri="{FF2B5EF4-FFF2-40B4-BE49-F238E27FC236}">
                <a16:creationId xmlns:a16="http://schemas.microsoft.com/office/drawing/2014/main" id="{7D54BDB7-398B-B7D5-EA6A-46E041C8559F}"/>
              </a:ext>
            </a:extLst>
          </p:cNvPr>
          <p:cNvSpPr txBox="1"/>
          <p:nvPr/>
        </p:nvSpPr>
        <p:spPr>
          <a:xfrm>
            <a:off x="4776025" y="1401346"/>
            <a:ext cx="18846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b="0" i="0" noProof="0" dirty="0">
                <a:solidFill>
                  <a:srgbClr val="004566"/>
                </a:solidFill>
              </a:rPr>
              <a:t>4 Materias en Hojas distintas</a:t>
            </a:r>
          </a:p>
        </p:txBody>
      </p:sp>
      <p:sp>
        <p:nvSpPr>
          <p:cNvPr id="7" name="TextBox 1005">
            <a:extLst>
              <a:ext uri="{FF2B5EF4-FFF2-40B4-BE49-F238E27FC236}">
                <a16:creationId xmlns:a16="http://schemas.microsoft.com/office/drawing/2014/main" id="{EDEA5B14-153B-ADC2-BC2B-F778B7666B58}"/>
              </a:ext>
            </a:extLst>
          </p:cNvPr>
          <p:cNvSpPr txBox="1"/>
          <p:nvPr/>
        </p:nvSpPr>
        <p:spPr>
          <a:xfrm>
            <a:off x="6952960" y="1389133"/>
            <a:ext cx="21910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z="1400" dirty="0">
                <a:solidFill>
                  <a:srgbClr val="004566"/>
                </a:solidFill>
              </a:rPr>
              <a:t>Documento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z="1400" dirty="0">
                <a:solidFill>
                  <a:srgbClr val="004566"/>
                </a:solidFill>
              </a:rPr>
              <a:t>Resultado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z="1400" dirty="0">
                <a:solidFill>
                  <a:srgbClr val="004566"/>
                </a:solidFill>
              </a:rPr>
              <a:t>Semestre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s-CO" sz="1400" b="0" i="0" noProof="0" dirty="0">
              <a:solidFill>
                <a:srgbClr val="004566"/>
              </a:solidFill>
            </a:endParaRPr>
          </a:p>
        </p:txBody>
      </p:sp>
      <p:sp>
        <p:nvSpPr>
          <p:cNvPr id="9" name="Rectangle 1000">
            <a:extLst>
              <a:ext uri="{FF2B5EF4-FFF2-40B4-BE49-F238E27FC236}">
                <a16:creationId xmlns:a16="http://schemas.microsoft.com/office/drawing/2014/main" id="{18E8AF98-1076-3EB0-FC3B-6F28E49A5A77}"/>
              </a:ext>
            </a:extLst>
          </p:cNvPr>
          <p:cNvSpPr/>
          <p:nvPr/>
        </p:nvSpPr>
        <p:spPr>
          <a:xfrm>
            <a:off x="628191" y="2757388"/>
            <a:ext cx="7827265" cy="566928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01">
            <a:extLst>
              <a:ext uri="{FF2B5EF4-FFF2-40B4-BE49-F238E27FC236}">
                <a16:creationId xmlns:a16="http://schemas.microsoft.com/office/drawing/2014/main" id="{3390918A-CD0B-0F26-CF8C-CF0E1B16C4B5}"/>
              </a:ext>
            </a:extLst>
          </p:cNvPr>
          <p:cNvSpPr txBox="1"/>
          <p:nvPr/>
        </p:nvSpPr>
        <p:spPr>
          <a:xfrm>
            <a:off x="3182424" y="2800842"/>
            <a:ext cx="25359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Reto</a:t>
            </a:r>
          </a:p>
        </p:txBody>
      </p:sp>
      <p:sp>
        <p:nvSpPr>
          <p:cNvPr id="13" name="Rectangle 1002">
            <a:extLst>
              <a:ext uri="{FF2B5EF4-FFF2-40B4-BE49-F238E27FC236}">
                <a16:creationId xmlns:a16="http://schemas.microsoft.com/office/drawing/2014/main" id="{1E9C4798-8F0D-B895-A4D2-C894441A63D9}"/>
              </a:ext>
            </a:extLst>
          </p:cNvPr>
          <p:cNvSpPr/>
          <p:nvPr/>
        </p:nvSpPr>
        <p:spPr>
          <a:xfrm>
            <a:off x="628192" y="3324316"/>
            <a:ext cx="7827264" cy="1015455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003">
            <a:extLst>
              <a:ext uri="{FF2B5EF4-FFF2-40B4-BE49-F238E27FC236}">
                <a16:creationId xmlns:a16="http://schemas.microsoft.com/office/drawing/2014/main" id="{CFC930D8-757B-A8FD-F24A-A87796A1DFF5}"/>
              </a:ext>
            </a:extLst>
          </p:cNvPr>
          <p:cNvSpPr txBox="1"/>
          <p:nvPr/>
        </p:nvSpPr>
        <p:spPr>
          <a:xfrm>
            <a:off x="1129458" y="3378456"/>
            <a:ext cx="6815459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100" b="1" i="0" noProof="0" dirty="0">
                <a:solidFill>
                  <a:srgbClr val="FFFFFF"/>
                </a:solidFill>
              </a:rPr>
              <a:t>
</a:t>
            </a:r>
            <a:r>
              <a:rPr lang="es-CO" sz="1600" b="1" dirty="0">
                <a:solidFill>
                  <a:schemeClr val="bg1"/>
                </a:solidFill>
              </a:rPr>
              <a:t>¿Cómo unir 7 registros desconectados en la historia académica de cada estudiante?</a:t>
            </a:r>
            <a:endParaRPr lang="es-CO" sz="1600" b="1" i="0" noProof="0" dirty="0">
              <a:solidFill>
                <a:schemeClr val="bg1"/>
              </a:solidFill>
            </a:endParaRPr>
          </a:p>
        </p:txBody>
      </p:sp>
      <p:sp>
        <p:nvSpPr>
          <p:cNvPr id="35" name="TextBox 1006">
            <a:extLst>
              <a:ext uri="{FF2B5EF4-FFF2-40B4-BE49-F238E27FC236}">
                <a16:creationId xmlns:a16="http://schemas.microsoft.com/office/drawing/2014/main" id="{D904D5E5-9CBD-F720-47E6-4801DFB18B87}"/>
              </a:ext>
            </a:extLst>
          </p:cNvPr>
          <p:cNvSpPr txBox="1"/>
          <p:nvPr/>
        </p:nvSpPr>
        <p:spPr>
          <a:xfrm>
            <a:off x="345096" y="5088669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300" b="1" i="0" noProof="0" dirty="0">
                <a:solidFill>
                  <a:srgbClr val="007994"/>
                </a:solidFill>
              </a:rPr>
              <a:t>▶</a:t>
            </a:r>
          </a:p>
        </p:txBody>
      </p:sp>
      <p:sp>
        <p:nvSpPr>
          <p:cNvPr id="37" name="Rectangle 1007">
            <a:extLst>
              <a:ext uri="{FF2B5EF4-FFF2-40B4-BE49-F238E27FC236}">
                <a16:creationId xmlns:a16="http://schemas.microsoft.com/office/drawing/2014/main" id="{BBDD82A3-89DA-3CA4-3E08-5BC5FE0F13DA}"/>
              </a:ext>
            </a:extLst>
          </p:cNvPr>
          <p:cNvSpPr/>
          <p:nvPr/>
        </p:nvSpPr>
        <p:spPr>
          <a:xfrm>
            <a:off x="582471" y="4732052"/>
            <a:ext cx="1755648" cy="566928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9" name="TextBox 1008">
            <a:extLst>
              <a:ext uri="{FF2B5EF4-FFF2-40B4-BE49-F238E27FC236}">
                <a16:creationId xmlns:a16="http://schemas.microsoft.com/office/drawing/2014/main" id="{D58AC676-FE21-F8D6-F912-7D9531E1EF2C}"/>
              </a:ext>
            </a:extLst>
          </p:cNvPr>
          <p:cNvSpPr txBox="1"/>
          <p:nvPr/>
        </p:nvSpPr>
        <p:spPr>
          <a:xfrm>
            <a:off x="582471" y="4732052"/>
            <a:ext cx="175564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1" name="Rectangle 1009">
            <a:extLst>
              <a:ext uri="{FF2B5EF4-FFF2-40B4-BE49-F238E27FC236}">
                <a16:creationId xmlns:a16="http://schemas.microsoft.com/office/drawing/2014/main" id="{1611EB02-5298-A95E-F5E0-4730855E8816}"/>
              </a:ext>
            </a:extLst>
          </p:cNvPr>
          <p:cNvSpPr/>
          <p:nvPr/>
        </p:nvSpPr>
        <p:spPr>
          <a:xfrm>
            <a:off x="582471" y="5298981"/>
            <a:ext cx="1755648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3" name="TextBox 1010">
            <a:extLst>
              <a:ext uri="{FF2B5EF4-FFF2-40B4-BE49-F238E27FC236}">
                <a16:creationId xmlns:a16="http://schemas.microsoft.com/office/drawing/2014/main" id="{CAE1B7E3-74A5-4999-3EA9-3F81CCD3DF3F}"/>
              </a:ext>
            </a:extLst>
          </p:cNvPr>
          <p:cNvSpPr txBox="1"/>
          <p:nvPr/>
        </p:nvSpPr>
        <p:spPr>
          <a:xfrm>
            <a:off x="628191" y="5317269"/>
            <a:ext cx="1664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chemeClr val="bg1"/>
                </a:solidFill>
              </a:rPr>
              <a:t>Limpieza de Datos</a:t>
            </a:r>
            <a:endParaRPr lang="es-CO" sz="1600" b="1" i="0" noProof="0" dirty="0">
              <a:solidFill>
                <a:schemeClr val="bg1"/>
              </a:solidFill>
            </a:endParaRPr>
          </a:p>
        </p:txBody>
      </p:sp>
      <p:sp>
        <p:nvSpPr>
          <p:cNvPr id="47" name="Rectangle 1004">
            <a:extLst>
              <a:ext uri="{FF2B5EF4-FFF2-40B4-BE49-F238E27FC236}">
                <a16:creationId xmlns:a16="http://schemas.microsoft.com/office/drawing/2014/main" id="{453E2D0D-7FF4-6BCC-6492-A2B9356436A7}"/>
              </a:ext>
            </a:extLst>
          </p:cNvPr>
          <p:cNvSpPr/>
          <p:nvPr/>
        </p:nvSpPr>
        <p:spPr>
          <a:xfrm>
            <a:off x="2338119" y="4676747"/>
            <a:ext cx="6071618" cy="122529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9" name="TextBox 1005">
            <a:extLst>
              <a:ext uri="{FF2B5EF4-FFF2-40B4-BE49-F238E27FC236}">
                <a16:creationId xmlns:a16="http://schemas.microsoft.com/office/drawing/2014/main" id="{1A7BFAD6-2859-2A0E-7237-188BAD8D9FCD}"/>
              </a:ext>
            </a:extLst>
          </p:cNvPr>
          <p:cNvSpPr txBox="1"/>
          <p:nvPr/>
        </p:nvSpPr>
        <p:spPr>
          <a:xfrm>
            <a:off x="2383840" y="4779236"/>
            <a:ext cx="16511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rgbClr val="004566"/>
                </a:solidFill>
              </a:rPr>
              <a:t>Eliminación de columnas no relevantes </a:t>
            </a:r>
          </a:p>
        </p:txBody>
      </p:sp>
      <p:sp>
        <p:nvSpPr>
          <p:cNvPr id="51" name="TextBox 1005">
            <a:extLst>
              <a:ext uri="{FF2B5EF4-FFF2-40B4-BE49-F238E27FC236}">
                <a16:creationId xmlns:a16="http://schemas.microsoft.com/office/drawing/2014/main" id="{6908C348-9889-CCAD-7489-F9C9A8A18742}"/>
              </a:ext>
            </a:extLst>
          </p:cNvPr>
          <p:cNvSpPr txBox="1"/>
          <p:nvPr/>
        </p:nvSpPr>
        <p:spPr>
          <a:xfrm>
            <a:off x="4143986" y="4779236"/>
            <a:ext cx="21910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rgbClr val="004566"/>
                </a:solidFill>
              </a:rPr>
              <a:t>Unificación de las 4 materias en una base de datos por semestre</a:t>
            </a:r>
          </a:p>
        </p:txBody>
      </p:sp>
      <p:sp>
        <p:nvSpPr>
          <p:cNvPr id="55" name="TextBox 1005">
            <a:extLst>
              <a:ext uri="{FF2B5EF4-FFF2-40B4-BE49-F238E27FC236}">
                <a16:creationId xmlns:a16="http://schemas.microsoft.com/office/drawing/2014/main" id="{53705F93-3522-AB83-9566-B96C56B8979E}"/>
              </a:ext>
            </a:extLst>
          </p:cNvPr>
          <p:cNvSpPr txBox="1"/>
          <p:nvPr/>
        </p:nvSpPr>
        <p:spPr>
          <a:xfrm>
            <a:off x="6335026" y="4779236"/>
            <a:ext cx="19216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rgbClr val="004566"/>
                </a:solidFill>
              </a:rPr>
              <a:t>Exportación: 7 archivos limpios de Excel</a:t>
            </a:r>
          </a:p>
        </p:txBody>
      </p:sp>
      <p:sp>
        <p:nvSpPr>
          <p:cNvPr id="61" name="TextBox 1006">
            <a:extLst>
              <a:ext uri="{FF2B5EF4-FFF2-40B4-BE49-F238E27FC236}">
                <a16:creationId xmlns:a16="http://schemas.microsoft.com/office/drawing/2014/main" id="{1035DCCE-CE45-FEAE-AD90-27858FF45A33}"/>
              </a:ext>
            </a:extLst>
          </p:cNvPr>
          <p:cNvSpPr txBox="1"/>
          <p:nvPr/>
        </p:nvSpPr>
        <p:spPr>
          <a:xfrm>
            <a:off x="4462272" y="1593499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300" b="1" i="0" noProof="0" dirty="0">
                <a:solidFill>
                  <a:srgbClr val="007994"/>
                </a:solidFill>
              </a:rPr>
              <a:t>▶</a:t>
            </a:r>
          </a:p>
        </p:txBody>
      </p:sp>
      <p:sp>
        <p:nvSpPr>
          <p:cNvPr id="63" name="TextBox 1006">
            <a:extLst>
              <a:ext uri="{FF2B5EF4-FFF2-40B4-BE49-F238E27FC236}">
                <a16:creationId xmlns:a16="http://schemas.microsoft.com/office/drawing/2014/main" id="{A6FA7069-EBB2-EF2A-EA47-787A9F3FE1E8}"/>
              </a:ext>
            </a:extLst>
          </p:cNvPr>
          <p:cNvSpPr txBox="1"/>
          <p:nvPr/>
        </p:nvSpPr>
        <p:spPr>
          <a:xfrm>
            <a:off x="6562259" y="1623342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300" b="1" i="0" noProof="0" dirty="0">
                <a:solidFill>
                  <a:srgbClr val="007994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392C7-7F12-9BF0-C756-52B23A22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yout1_img_8.png">
            <a:extLst>
              <a:ext uri="{FF2B5EF4-FFF2-40B4-BE49-F238E27FC236}">
                <a16:creationId xmlns:a16="http://schemas.microsoft.com/office/drawing/2014/main" id="{4F84E0C1-B86F-D706-A544-C61EEF06F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75" y="63093"/>
            <a:ext cx="1362456" cy="745236"/>
          </a:xfrm>
          <a:prstGeom prst="rect">
            <a:avLst/>
          </a:prstGeom>
        </p:spPr>
      </p:pic>
      <p:sp>
        <p:nvSpPr>
          <p:cNvPr id="998" name="LeftBar">
            <a:extLst>
              <a:ext uri="{FF2B5EF4-FFF2-40B4-BE49-F238E27FC236}">
                <a16:creationId xmlns:a16="http://schemas.microsoft.com/office/drawing/2014/main" id="{D2F3786D-241A-812E-3238-BC8FF175FE2D}"/>
              </a:ext>
            </a:extLst>
          </p:cNvPr>
          <p:cNvSpPr/>
          <p:nvPr/>
        </p:nvSpPr>
        <p:spPr>
          <a:xfrm>
            <a:off x="399960" y="365040"/>
            <a:ext cx="0" cy="1978200"/>
          </a:xfrm>
          <a:prstGeom prst="line">
            <a:avLst/>
          </a:prstGeom>
          <a:ln w="57240">
            <a:solidFill>
              <a:srgbClr val="404040"/>
            </a:solidFill>
            <a:miter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01" name="Rectangle 1000">
            <a:extLst>
              <a:ext uri="{FF2B5EF4-FFF2-40B4-BE49-F238E27FC236}">
                <a16:creationId xmlns:a16="http://schemas.microsoft.com/office/drawing/2014/main" id="{CCCA686D-E9A4-C265-4A12-394B0A5FF5AC}"/>
              </a:ext>
            </a:extLst>
          </p:cNvPr>
          <p:cNvSpPr/>
          <p:nvPr/>
        </p:nvSpPr>
        <p:spPr>
          <a:xfrm>
            <a:off x="628192" y="1161759"/>
            <a:ext cx="1755648" cy="566928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2" name="TextBox 1001">
            <a:extLst>
              <a:ext uri="{FF2B5EF4-FFF2-40B4-BE49-F238E27FC236}">
                <a16:creationId xmlns:a16="http://schemas.microsoft.com/office/drawing/2014/main" id="{5FDD77FA-B9D7-10E3-46B4-FC320BC651D0}"/>
              </a:ext>
            </a:extLst>
          </p:cNvPr>
          <p:cNvSpPr txBox="1"/>
          <p:nvPr/>
        </p:nvSpPr>
        <p:spPr>
          <a:xfrm>
            <a:off x="628192" y="1161759"/>
            <a:ext cx="17556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03" name="Rectangle 1002">
            <a:extLst>
              <a:ext uri="{FF2B5EF4-FFF2-40B4-BE49-F238E27FC236}">
                <a16:creationId xmlns:a16="http://schemas.microsoft.com/office/drawing/2014/main" id="{CD2921FD-376E-F282-075F-2BF375306797}"/>
              </a:ext>
            </a:extLst>
          </p:cNvPr>
          <p:cNvSpPr/>
          <p:nvPr/>
        </p:nvSpPr>
        <p:spPr>
          <a:xfrm>
            <a:off x="628192" y="1728688"/>
            <a:ext cx="1755648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466E2E61-3757-084E-9075-98D0F3C129A8}"/>
              </a:ext>
            </a:extLst>
          </p:cNvPr>
          <p:cNvSpPr/>
          <p:nvPr/>
        </p:nvSpPr>
        <p:spPr>
          <a:xfrm>
            <a:off x="2383839" y="1161759"/>
            <a:ext cx="6071618" cy="122529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18" name="TextBox 1017">
            <a:extLst>
              <a:ext uri="{FF2B5EF4-FFF2-40B4-BE49-F238E27FC236}">
                <a16:creationId xmlns:a16="http://schemas.microsoft.com/office/drawing/2014/main" id="{B9F7B437-3D2B-D52B-DA91-A05EDAD9C92F}"/>
              </a:ext>
            </a:extLst>
          </p:cNvPr>
          <p:cNvSpPr txBox="1"/>
          <p:nvPr/>
        </p:nvSpPr>
        <p:spPr>
          <a:xfrm>
            <a:off x="673912" y="1766988"/>
            <a:ext cx="1664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dirty="0">
                <a:solidFill>
                  <a:schemeClr val="bg1"/>
                </a:solidFill>
              </a:rPr>
              <a:t>Construcción</a:t>
            </a:r>
            <a:r>
              <a:rPr lang="es-CO" sz="1600" b="1" dirty="0"/>
              <a:t> </a:t>
            </a:r>
            <a:r>
              <a:rPr lang="es-CO" sz="1600" b="1" dirty="0">
                <a:solidFill>
                  <a:schemeClr val="bg1"/>
                </a:solidFill>
              </a:rPr>
              <a:t>de</a:t>
            </a:r>
            <a:r>
              <a:rPr lang="es-CO" sz="1600" b="1" dirty="0"/>
              <a:t> </a:t>
            </a:r>
            <a:r>
              <a:rPr lang="es-CO" sz="1600" b="1" dirty="0">
                <a:solidFill>
                  <a:schemeClr val="bg1"/>
                </a:solidFill>
              </a:rPr>
              <a:t>Trayectorias</a:t>
            </a:r>
            <a:endParaRPr lang="es-CO" sz="1600" b="1" i="0" noProof="0" dirty="0">
              <a:solidFill>
                <a:schemeClr val="bg1"/>
              </a:solidFill>
            </a:endParaRPr>
          </a:p>
        </p:txBody>
      </p:sp>
      <p:sp>
        <p:nvSpPr>
          <p:cNvPr id="4" name="Rectangle 998">
            <a:extLst>
              <a:ext uri="{FF2B5EF4-FFF2-40B4-BE49-F238E27FC236}">
                <a16:creationId xmlns:a16="http://schemas.microsoft.com/office/drawing/2014/main" id="{8A58DB09-3FD5-52F2-CACE-78EC26E729D2}"/>
              </a:ext>
            </a:extLst>
          </p:cNvPr>
          <p:cNvSpPr/>
          <p:nvPr/>
        </p:nvSpPr>
        <p:spPr>
          <a:xfrm>
            <a:off x="0" y="6454748"/>
            <a:ext cx="9144000" cy="4032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CO" sz="900" b="1" i="0" noProof="0" dirty="0">
                <a:solidFill>
                  <a:srgbClr val="FFFFFF"/>
                </a:solidFill>
              </a:rPr>
              <a:t>The OAS Summit </a:t>
            </a:r>
            <a:r>
              <a:rPr lang="es-CO" sz="900" b="1" i="0" noProof="0" dirty="0" err="1">
                <a:solidFill>
                  <a:srgbClr val="FFFFFF"/>
                </a:solidFill>
              </a:rPr>
              <a:t>of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for</a:t>
            </a:r>
            <a:r>
              <a:rPr lang="es-CO" sz="900" b="1" i="0" noProof="0" dirty="0">
                <a:solidFill>
                  <a:srgbClr val="FFFFFF"/>
                </a:solidFill>
              </a:rPr>
              <a:t> the Americas. </a:t>
            </a:r>
            <a:r>
              <a:rPr lang="es-CO" sz="900" b="0" i="0" noProof="0" dirty="0">
                <a:solidFill>
                  <a:srgbClr val="FFFFFF"/>
                </a:solidFill>
              </a:rPr>
              <a:t>24th LACCEI International </a:t>
            </a:r>
            <a:r>
              <a:rPr lang="es-CO" sz="1000" b="0" i="0" noProof="0" dirty="0">
                <a:solidFill>
                  <a:srgbClr val="FFFFFF"/>
                </a:solidFill>
              </a:rPr>
              <a:t>Multi-</a:t>
            </a:r>
            <a:r>
              <a:rPr lang="es-CO" sz="1000" b="0" i="0" noProof="0" dirty="0" err="1">
                <a:solidFill>
                  <a:srgbClr val="FFFFFF"/>
                </a:solidFill>
              </a:rPr>
              <a:t>Conference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for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0" noProof="0" dirty="0">
                <a:solidFill>
                  <a:srgbClr val="FFFFFF"/>
                </a:solidFill>
              </a:rPr>
              <a:t>, </a:t>
            </a:r>
            <a:r>
              <a:rPr lang="es-CO" sz="900" b="0" i="0" noProof="0" dirty="0" err="1">
                <a:solidFill>
                  <a:srgbClr val="FFFFFF"/>
                </a:solidFill>
              </a:rPr>
              <a:t>Education</a:t>
            </a:r>
            <a:r>
              <a:rPr lang="es-CO" sz="900" b="0" i="0" noProof="0" dirty="0">
                <a:solidFill>
                  <a:srgbClr val="FFFFFF"/>
                </a:solidFill>
              </a:rPr>
              <a:t>, and </a:t>
            </a:r>
            <a:r>
              <a:rPr lang="es-CO" sz="900" b="0" i="0" noProof="0" dirty="0" err="1">
                <a:solidFill>
                  <a:srgbClr val="FFFFFF"/>
                </a:solidFill>
              </a:rPr>
              <a:t>Technology</a:t>
            </a:r>
            <a:r>
              <a:rPr lang="es-CO" sz="900" b="0" i="0" noProof="0" dirty="0">
                <a:solidFill>
                  <a:srgbClr val="FFFFFF"/>
                </a:solidFill>
              </a:rPr>
              <a:t>: </a:t>
            </a:r>
            <a:r>
              <a:rPr lang="es-CO" sz="900" b="0" i="1" noProof="0" dirty="0">
                <a:solidFill>
                  <a:srgbClr val="FFFFFF"/>
                </a:solidFill>
              </a:rPr>
              <a:t>“</a:t>
            </a:r>
            <a:r>
              <a:rPr lang="es-CO" sz="900" b="0" i="1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without</a:t>
            </a:r>
            <a:endParaRPr lang="es-CO" sz="900" b="0" i="1" noProof="0" dirty="0">
              <a:solidFill>
                <a:srgbClr val="FFFFFF"/>
              </a:solidFill>
            </a:endParaRPr>
          </a:p>
          <a:p>
            <a:pPr algn="ctr"/>
            <a:r>
              <a:rPr lang="es-CO" sz="900" b="0" i="1" noProof="0" dirty="0">
                <a:solidFill>
                  <a:srgbClr val="FFFFFF"/>
                </a:solidFill>
              </a:rPr>
              <a:t> Borders: Artificial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Intelligence</a:t>
            </a:r>
            <a:r>
              <a:rPr lang="es-CO" sz="900" b="0" i="1" noProof="0" dirty="0">
                <a:solidFill>
                  <a:srgbClr val="FFFFFF"/>
                </a:solidFill>
              </a:rPr>
              <a:t>, Knowledge,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Innovation</a:t>
            </a:r>
            <a:r>
              <a:rPr lang="es-CO" sz="900" b="0" i="1" noProof="0" dirty="0">
                <a:solidFill>
                  <a:srgbClr val="FFFFFF"/>
                </a:solidFill>
              </a:rPr>
              <a:t>, and </a:t>
            </a:r>
            <a:r>
              <a:rPr lang="es-CO" sz="900" b="0" i="1" noProof="0" dirty="0" err="1">
                <a:solidFill>
                  <a:srgbClr val="FFFFFF"/>
                </a:solidFill>
              </a:rPr>
              <a:t>Alliances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for</a:t>
            </a:r>
            <a:r>
              <a:rPr lang="es-CO" sz="900" b="0" i="1" noProof="0" dirty="0">
                <a:solidFill>
                  <a:srgbClr val="FFFFFF"/>
                </a:solidFill>
              </a:rPr>
              <a:t> a Future </a:t>
            </a:r>
            <a:r>
              <a:rPr lang="es-CO" sz="900" b="0" i="1" noProof="0" dirty="0" err="1">
                <a:solidFill>
                  <a:srgbClr val="FFFFFF"/>
                </a:solidFill>
              </a:rPr>
              <a:t>from</a:t>
            </a:r>
            <a:r>
              <a:rPr lang="es-CO" sz="900" b="0" i="1" noProof="0" dirty="0">
                <a:solidFill>
                  <a:srgbClr val="FFFFFF"/>
                </a:solidFill>
              </a:rPr>
              <a:t> the Americas”</a:t>
            </a:r>
            <a:r>
              <a:rPr lang="es-CO" sz="900" b="0" i="0" noProof="0" dirty="0">
                <a:solidFill>
                  <a:srgbClr val="FFFFFF"/>
                </a:solidFill>
              </a:rPr>
              <a:t>. </a:t>
            </a:r>
            <a:r>
              <a:rPr lang="es-CO" sz="900" b="0" i="0" noProof="0" dirty="0" err="1">
                <a:solidFill>
                  <a:srgbClr val="FFFFFF"/>
                </a:solidFill>
              </a:rPr>
              <a:t>Hybrid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Event</a:t>
            </a:r>
            <a:r>
              <a:rPr lang="es-CO" sz="900" b="0" i="0" noProof="0" dirty="0">
                <a:solidFill>
                  <a:srgbClr val="FFFFFF"/>
                </a:solidFill>
              </a:rPr>
              <a:t>, Santiago-Chile, </a:t>
            </a:r>
            <a:r>
              <a:rPr lang="es-CO" sz="900" b="0" i="0" noProof="0" dirty="0" err="1">
                <a:solidFill>
                  <a:srgbClr val="FFFFFF"/>
                </a:solidFill>
              </a:rPr>
              <a:t>July</a:t>
            </a:r>
            <a:r>
              <a:rPr lang="es-CO" sz="900" b="0" i="0" noProof="0" dirty="0">
                <a:solidFill>
                  <a:srgbClr val="FFFFFF"/>
                </a:solidFill>
              </a:rPr>
              <a:t> 15 - 17, 2026</a:t>
            </a:r>
          </a:p>
        </p:txBody>
      </p:sp>
      <p:sp>
        <p:nvSpPr>
          <p:cNvPr id="6" name="Rectangle 1000">
            <a:extLst>
              <a:ext uri="{FF2B5EF4-FFF2-40B4-BE49-F238E27FC236}">
                <a16:creationId xmlns:a16="http://schemas.microsoft.com/office/drawing/2014/main" id="{9169EF45-EEBA-96DC-49A3-49DAA55BC9D5}"/>
              </a:ext>
            </a:extLst>
          </p:cNvPr>
          <p:cNvSpPr/>
          <p:nvPr/>
        </p:nvSpPr>
        <p:spPr>
          <a:xfrm>
            <a:off x="673912" y="4691998"/>
            <a:ext cx="1755648" cy="566928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1001">
            <a:extLst>
              <a:ext uri="{FF2B5EF4-FFF2-40B4-BE49-F238E27FC236}">
                <a16:creationId xmlns:a16="http://schemas.microsoft.com/office/drawing/2014/main" id="{4F87A0F9-7EAB-EF96-6488-A0B59817D29C}"/>
              </a:ext>
            </a:extLst>
          </p:cNvPr>
          <p:cNvSpPr txBox="1"/>
          <p:nvPr/>
        </p:nvSpPr>
        <p:spPr>
          <a:xfrm>
            <a:off x="673912" y="4691998"/>
            <a:ext cx="17556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4" name="Rectangle 1002">
            <a:extLst>
              <a:ext uri="{FF2B5EF4-FFF2-40B4-BE49-F238E27FC236}">
                <a16:creationId xmlns:a16="http://schemas.microsoft.com/office/drawing/2014/main" id="{6A34C829-5F43-C998-1CF3-4471967FC816}"/>
              </a:ext>
            </a:extLst>
          </p:cNvPr>
          <p:cNvSpPr/>
          <p:nvPr/>
        </p:nvSpPr>
        <p:spPr>
          <a:xfrm>
            <a:off x="673912" y="5258927"/>
            <a:ext cx="1755648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Rectangle 1004">
            <a:extLst>
              <a:ext uri="{FF2B5EF4-FFF2-40B4-BE49-F238E27FC236}">
                <a16:creationId xmlns:a16="http://schemas.microsoft.com/office/drawing/2014/main" id="{BA60216D-CEE1-375C-2A97-98A60DBDD134}"/>
              </a:ext>
            </a:extLst>
          </p:cNvPr>
          <p:cNvSpPr/>
          <p:nvPr/>
        </p:nvSpPr>
        <p:spPr>
          <a:xfrm>
            <a:off x="2429559" y="4691998"/>
            <a:ext cx="6071618" cy="122529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TextBox 1005">
            <a:extLst>
              <a:ext uri="{FF2B5EF4-FFF2-40B4-BE49-F238E27FC236}">
                <a16:creationId xmlns:a16="http://schemas.microsoft.com/office/drawing/2014/main" id="{E7CE4E4B-7891-E79C-D551-8F643069ECEF}"/>
              </a:ext>
            </a:extLst>
          </p:cNvPr>
          <p:cNvSpPr txBox="1"/>
          <p:nvPr/>
        </p:nvSpPr>
        <p:spPr>
          <a:xfrm>
            <a:off x="4778350" y="4781024"/>
            <a:ext cx="15671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z="1600" b="0" i="0" noProof="0" dirty="0">
                <a:solidFill>
                  <a:srgbClr val="004566"/>
                </a:solidFill>
              </a:rPr>
              <a:t>Regresión logística</a:t>
            </a:r>
          </a:p>
        </p:txBody>
      </p:sp>
      <p:sp>
        <p:nvSpPr>
          <p:cNvPr id="23" name="TextBox 1017">
            <a:extLst>
              <a:ext uri="{FF2B5EF4-FFF2-40B4-BE49-F238E27FC236}">
                <a16:creationId xmlns:a16="http://schemas.microsoft.com/office/drawing/2014/main" id="{453B9A4B-AC63-6E9D-4E4A-DC8B37F39FE3}"/>
              </a:ext>
            </a:extLst>
          </p:cNvPr>
          <p:cNvSpPr txBox="1"/>
          <p:nvPr/>
        </p:nvSpPr>
        <p:spPr>
          <a:xfrm>
            <a:off x="719632" y="5297227"/>
            <a:ext cx="1664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chemeClr val="bg1"/>
                </a:solidFill>
              </a:rPr>
              <a:t>Modelo Predictivo</a:t>
            </a:r>
          </a:p>
        </p:txBody>
      </p:sp>
      <p:sp>
        <p:nvSpPr>
          <p:cNvPr id="25" name="TextBox 1005">
            <a:extLst>
              <a:ext uri="{FF2B5EF4-FFF2-40B4-BE49-F238E27FC236}">
                <a16:creationId xmlns:a16="http://schemas.microsoft.com/office/drawing/2014/main" id="{22B1E365-2325-E3BB-4C7E-3F2110A27D23}"/>
              </a:ext>
            </a:extLst>
          </p:cNvPr>
          <p:cNvSpPr txBox="1"/>
          <p:nvPr/>
        </p:nvSpPr>
        <p:spPr>
          <a:xfrm>
            <a:off x="6396425" y="4776650"/>
            <a:ext cx="18846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MX" sz="1600" b="0" i="0" noProof="0" dirty="0">
                <a:solidFill>
                  <a:srgbClr val="004566"/>
                </a:solidFill>
              </a:rPr>
              <a:t>División 70% entrenamiento / 30% prueba</a:t>
            </a:r>
            <a:endParaRPr lang="es-CO" sz="1600" b="0" i="0" noProof="0" dirty="0">
              <a:solidFill>
                <a:srgbClr val="004566"/>
              </a:solidFill>
            </a:endParaRPr>
          </a:p>
        </p:txBody>
      </p:sp>
      <p:sp>
        <p:nvSpPr>
          <p:cNvPr id="27" name="TextBox 1005">
            <a:extLst>
              <a:ext uri="{FF2B5EF4-FFF2-40B4-BE49-F238E27FC236}">
                <a16:creationId xmlns:a16="http://schemas.microsoft.com/office/drawing/2014/main" id="{D79C33EA-1322-ABDA-F466-E52C87AC3ACD}"/>
              </a:ext>
            </a:extLst>
          </p:cNvPr>
          <p:cNvSpPr txBox="1"/>
          <p:nvPr/>
        </p:nvSpPr>
        <p:spPr>
          <a:xfrm>
            <a:off x="2523671" y="4758618"/>
            <a:ext cx="21910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z="1600" b="0" i="0" noProof="0" dirty="0">
                <a:solidFill>
                  <a:srgbClr val="004566"/>
                </a:solidFill>
              </a:rPr>
              <a:t>Cálculo de tasa de aprobación acumulada por estudiante</a:t>
            </a:r>
          </a:p>
        </p:txBody>
      </p:sp>
      <p:sp>
        <p:nvSpPr>
          <p:cNvPr id="53" name="TextBox 1005">
            <a:extLst>
              <a:ext uri="{FF2B5EF4-FFF2-40B4-BE49-F238E27FC236}">
                <a16:creationId xmlns:a16="http://schemas.microsoft.com/office/drawing/2014/main" id="{2287EDFA-FE43-FFE1-7A63-131ACD47182B}"/>
              </a:ext>
            </a:extLst>
          </p:cNvPr>
          <p:cNvSpPr txBox="1"/>
          <p:nvPr/>
        </p:nvSpPr>
        <p:spPr>
          <a:xfrm>
            <a:off x="2510840" y="1313188"/>
            <a:ext cx="16511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004566"/>
                </a:solidFill>
              </a:rPr>
              <a:t>Integración de los 7 semestres</a:t>
            </a:r>
            <a:endParaRPr lang="es-CO" sz="1600" dirty="0">
              <a:solidFill>
                <a:srgbClr val="004566"/>
              </a:solidFill>
            </a:endParaRPr>
          </a:p>
        </p:txBody>
      </p:sp>
      <p:sp>
        <p:nvSpPr>
          <p:cNvPr id="55" name="TextBox 1005">
            <a:extLst>
              <a:ext uri="{FF2B5EF4-FFF2-40B4-BE49-F238E27FC236}">
                <a16:creationId xmlns:a16="http://schemas.microsoft.com/office/drawing/2014/main" id="{0ACDF86F-2C1C-FE73-2194-6126B940BF58}"/>
              </a:ext>
            </a:extLst>
          </p:cNvPr>
          <p:cNvSpPr txBox="1"/>
          <p:nvPr/>
        </p:nvSpPr>
        <p:spPr>
          <a:xfrm>
            <a:off x="3955273" y="1309159"/>
            <a:ext cx="22042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004566"/>
                </a:solidFill>
              </a:rPr>
              <a:t>Agrupación por estudiante-materia</a:t>
            </a:r>
            <a:endParaRPr lang="es-CO" sz="1600" dirty="0">
              <a:solidFill>
                <a:srgbClr val="004566"/>
              </a:solidFill>
            </a:endParaRPr>
          </a:p>
        </p:txBody>
      </p:sp>
      <p:sp>
        <p:nvSpPr>
          <p:cNvPr id="57" name="TextBox 1005">
            <a:extLst>
              <a:ext uri="{FF2B5EF4-FFF2-40B4-BE49-F238E27FC236}">
                <a16:creationId xmlns:a16="http://schemas.microsoft.com/office/drawing/2014/main" id="{0C9EE9A4-DFD9-855D-4C66-6D16B3B341D0}"/>
              </a:ext>
            </a:extLst>
          </p:cNvPr>
          <p:cNvSpPr txBox="1"/>
          <p:nvPr/>
        </p:nvSpPr>
        <p:spPr>
          <a:xfrm>
            <a:off x="6159500" y="1307044"/>
            <a:ext cx="16511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s-CO" sz="1600" dirty="0">
                <a:solidFill>
                  <a:srgbClr val="004566"/>
                </a:solidFill>
              </a:rPr>
              <a:t>Creación del historial secuencial</a:t>
            </a:r>
          </a:p>
        </p:txBody>
      </p:sp>
      <p:sp>
        <p:nvSpPr>
          <p:cNvPr id="59" name="Rectangle 1004">
            <a:extLst>
              <a:ext uri="{FF2B5EF4-FFF2-40B4-BE49-F238E27FC236}">
                <a16:creationId xmlns:a16="http://schemas.microsoft.com/office/drawing/2014/main" id="{96D12C66-0939-7FC2-6B27-9296B12EB369}"/>
              </a:ext>
            </a:extLst>
          </p:cNvPr>
          <p:cNvSpPr/>
          <p:nvPr/>
        </p:nvSpPr>
        <p:spPr>
          <a:xfrm>
            <a:off x="1000455" y="2613637"/>
            <a:ext cx="2381708" cy="47548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1" name="TextBox 1005">
            <a:extLst>
              <a:ext uri="{FF2B5EF4-FFF2-40B4-BE49-F238E27FC236}">
                <a16:creationId xmlns:a16="http://schemas.microsoft.com/office/drawing/2014/main" id="{C47252A9-FE31-F83F-90E8-7E25D336E084}"/>
              </a:ext>
            </a:extLst>
          </p:cNvPr>
          <p:cNvSpPr txBox="1"/>
          <p:nvPr/>
        </p:nvSpPr>
        <p:spPr>
          <a:xfrm>
            <a:off x="1091895" y="2684446"/>
            <a:ext cx="229026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dirty="0">
                <a:solidFill>
                  <a:srgbClr val="FFFFFF"/>
                </a:solidFill>
              </a:rPr>
              <a:t>Definición de Permanencia</a:t>
            </a:r>
            <a:endParaRPr lang="es-CO" sz="1300" b="1" i="0" noProof="0" dirty="0">
              <a:solidFill>
                <a:srgbClr val="FFFFFF"/>
              </a:solidFill>
            </a:endParaRPr>
          </a:p>
        </p:txBody>
      </p:sp>
      <p:sp>
        <p:nvSpPr>
          <p:cNvPr id="63" name="Rectangle 1006">
            <a:extLst>
              <a:ext uri="{FF2B5EF4-FFF2-40B4-BE49-F238E27FC236}">
                <a16:creationId xmlns:a16="http://schemas.microsoft.com/office/drawing/2014/main" id="{0D38DBF9-5296-7B9C-AF85-25168673F589}"/>
              </a:ext>
            </a:extLst>
          </p:cNvPr>
          <p:cNvSpPr/>
          <p:nvPr/>
        </p:nvSpPr>
        <p:spPr>
          <a:xfrm>
            <a:off x="1000455" y="3089125"/>
            <a:ext cx="2381708" cy="13075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61" name="TextBox 1007">
            <a:extLst>
              <a:ext uri="{FF2B5EF4-FFF2-40B4-BE49-F238E27FC236}">
                <a16:creationId xmlns:a16="http://schemas.microsoft.com/office/drawing/2014/main" id="{AEDC725F-F291-37D3-B82B-5BED168A3EF1}"/>
              </a:ext>
            </a:extLst>
          </p:cNvPr>
          <p:cNvSpPr txBox="1"/>
          <p:nvPr/>
        </p:nvSpPr>
        <p:spPr>
          <a:xfrm>
            <a:off x="1163015" y="3140100"/>
            <a:ext cx="21048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1" i="0" noProof="0" dirty="0">
                <a:solidFill>
                  <a:srgbClr val="B03030"/>
                </a:solidFill>
              </a:rPr>
              <a:t>0 = </a:t>
            </a:r>
            <a:r>
              <a:rPr lang="es-CO" sz="1200" b="1" dirty="0">
                <a:solidFill>
                  <a:srgbClr val="B03030"/>
                </a:solidFill>
              </a:rPr>
              <a:t>Deserto</a:t>
            </a:r>
          </a:p>
          <a:p>
            <a:pPr algn="l"/>
            <a:endParaRPr lang="es-CO" sz="1200" b="0" i="0" noProof="0" dirty="0"/>
          </a:p>
          <a:p>
            <a:pPr algn="l"/>
            <a:r>
              <a:rPr lang="es-CO" sz="1200" b="1" i="0" noProof="0" dirty="0">
                <a:solidFill>
                  <a:srgbClr val="1A6A2A"/>
                </a:solidFill>
              </a:rPr>
              <a:t>1 = Permanece</a:t>
            </a:r>
          </a:p>
          <a:p>
            <a:pPr algn="l"/>
            <a:endParaRPr lang="es-CO" sz="1200" b="0" i="0" noProof="0" dirty="0"/>
          </a:p>
          <a:p>
            <a:pPr algn="l"/>
            <a:r>
              <a:rPr lang="es-CO" sz="1200" b="1" i="0" noProof="0" dirty="0">
                <a:solidFill>
                  <a:srgbClr val="607080"/>
                </a:solidFill>
              </a:rPr>
              <a:t>2 = Pendiente (excluido del modelo)</a:t>
            </a:r>
          </a:p>
        </p:txBody>
      </p:sp>
      <p:sp>
        <p:nvSpPr>
          <p:cNvPr id="963" name="Rectangle 1000">
            <a:extLst>
              <a:ext uri="{FF2B5EF4-FFF2-40B4-BE49-F238E27FC236}">
                <a16:creationId xmlns:a16="http://schemas.microsoft.com/office/drawing/2014/main" id="{E1DA54BE-6FFB-1A79-BB9D-84F0F56887EA}"/>
              </a:ext>
            </a:extLst>
          </p:cNvPr>
          <p:cNvSpPr/>
          <p:nvPr/>
        </p:nvSpPr>
        <p:spPr>
          <a:xfrm>
            <a:off x="4224120" y="2737764"/>
            <a:ext cx="3749039" cy="438913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65" name="TextBox 1001">
            <a:extLst>
              <a:ext uri="{FF2B5EF4-FFF2-40B4-BE49-F238E27FC236}">
                <a16:creationId xmlns:a16="http://schemas.microsoft.com/office/drawing/2014/main" id="{C42224DE-B3F8-2B56-0C87-538A0F833ADF}"/>
              </a:ext>
            </a:extLst>
          </p:cNvPr>
          <p:cNvSpPr txBox="1"/>
          <p:nvPr/>
        </p:nvSpPr>
        <p:spPr>
          <a:xfrm>
            <a:off x="4315560" y="2810917"/>
            <a:ext cx="35661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Definición de la Variable Predictora</a:t>
            </a:r>
          </a:p>
        </p:txBody>
      </p:sp>
      <p:sp>
        <p:nvSpPr>
          <p:cNvPr id="967" name="Rectangle 1002">
            <a:extLst>
              <a:ext uri="{FF2B5EF4-FFF2-40B4-BE49-F238E27FC236}">
                <a16:creationId xmlns:a16="http://schemas.microsoft.com/office/drawing/2014/main" id="{381E9CEA-17EC-20AB-7044-F209C22AE8F4}"/>
              </a:ext>
            </a:extLst>
          </p:cNvPr>
          <p:cNvSpPr/>
          <p:nvPr/>
        </p:nvSpPr>
        <p:spPr>
          <a:xfrm>
            <a:off x="4224120" y="3213253"/>
            <a:ext cx="3749039" cy="95321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69" name="TextBox 1003">
            <a:extLst>
              <a:ext uri="{FF2B5EF4-FFF2-40B4-BE49-F238E27FC236}">
                <a16:creationId xmlns:a16="http://schemas.microsoft.com/office/drawing/2014/main" id="{8C37602A-BD4E-1FD4-D810-BFEBD57EDF90}"/>
              </a:ext>
            </a:extLst>
          </p:cNvPr>
          <p:cNvSpPr txBox="1"/>
          <p:nvPr/>
        </p:nvSpPr>
        <p:spPr>
          <a:xfrm>
            <a:off x="4361280" y="3304693"/>
            <a:ext cx="34747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1E3A5F"/>
                </a:solidFill>
              </a:rPr>
              <a:t>Tasa de Aprobación Acumulada</a:t>
            </a:r>
          </a:p>
          <a:p>
            <a:pPr algn="l"/>
            <a:endParaRPr lang="es-CO" sz="1300" b="1" i="0" noProof="0" dirty="0">
              <a:solidFill>
                <a:srgbClr val="1E3A5F"/>
              </a:solidFill>
            </a:endParaRPr>
          </a:p>
          <a:p>
            <a:pPr algn="l"/>
            <a:r>
              <a:rPr lang="es-CO" sz="1200" b="1" i="0" noProof="0" dirty="0">
                <a:solidFill>
                  <a:srgbClr val="007994"/>
                </a:solidFill>
              </a:rPr>
              <a:t>Tasa = Materias aprobadas ÷ Materias cursadas</a:t>
            </a:r>
          </a:p>
          <a:p>
            <a:pPr algn="l"/>
            <a:endParaRPr lang="es-CO" sz="1200" b="1" i="0" noProof="0" dirty="0">
              <a:solidFill>
                <a:srgbClr val="00799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786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04">
            <a:extLst>
              <a:ext uri="{FF2B5EF4-FFF2-40B4-BE49-F238E27FC236}">
                <a16:creationId xmlns:a16="http://schemas.microsoft.com/office/drawing/2014/main" id="{00AFCA34-FB44-E9C5-5485-8C9CF35C71BC}"/>
              </a:ext>
            </a:extLst>
          </p:cNvPr>
          <p:cNvSpPr/>
          <p:nvPr/>
        </p:nvSpPr>
        <p:spPr>
          <a:xfrm>
            <a:off x="6174740" y="3032116"/>
            <a:ext cx="2499360" cy="279718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2" name="Picture 1" descr="layout1_im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75" y="63093"/>
            <a:ext cx="1362456" cy="745236"/>
          </a:xfrm>
          <a:prstGeom prst="rect">
            <a:avLst/>
          </a:prstGeom>
        </p:spPr>
      </p:pic>
      <p:sp>
        <p:nvSpPr>
          <p:cNvPr id="998" name="LeftBar"/>
          <p:cNvSpPr/>
          <p:nvPr/>
        </p:nvSpPr>
        <p:spPr>
          <a:xfrm>
            <a:off x="399960" y="365040"/>
            <a:ext cx="0" cy="1978200"/>
          </a:xfrm>
          <a:prstGeom prst="line">
            <a:avLst/>
          </a:prstGeom>
          <a:ln w="57240">
            <a:solidFill>
              <a:srgbClr val="404040"/>
            </a:solidFill>
            <a:miter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00" name="TextBox 999"/>
          <p:cNvSpPr txBox="1"/>
          <p:nvPr/>
        </p:nvSpPr>
        <p:spPr>
          <a:xfrm>
            <a:off x="628192" y="364845"/>
            <a:ext cx="62407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100" b="1" i="0" noProof="0" dirty="0">
                <a:solidFill>
                  <a:srgbClr val="1E3A5F"/>
                </a:solidFill>
              </a:rPr>
              <a:t>Regresión Logística: Tasa de Aprobación vs. Permanencia (Fig. 2)</a:t>
            </a:r>
          </a:p>
        </p:txBody>
      </p:sp>
      <p:pic>
        <p:nvPicPr>
          <p:cNvPr id="1001" name="Picture 1000" descr="WhatsApp Image 2026-06-13 at 9.03.06 PM (1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" y="1874518"/>
            <a:ext cx="5029200" cy="3764281"/>
          </a:xfrm>
          <a:prstGeom prst="rect">
            <a:avLst/>
          </a:prstGeom>
        </p:spPr>
      </p:pic>
      <p:sp>
        <p:nvSpPr>
          <p:cNvPr id="1002" name="Rectangle 1001"/>
          <p:cNvSpPr/>
          <p:nvPr/>
        </p:nvSpPr>
        <p:spPr>
          <a:xfrm>
            <a:off x="6174740" y="1615340"/>
            <a:ext cx="2499360" cy="1417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3" name="TextBox 1002"/>
          <p:cNvSpPr txBox="1"/>
          <p:nvPr/>
        </p:nvSpPr>
        <p:spPr>
          <a:xfrm>
            <a:off x="6232479" y="1615340"/>
            <a:ext cx="24993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5200" b="1" i="0" noProof="0" dirty="0">
                <a:solidFill>
                  <a:srgbClr val="FFFFFF"/>
                </a:solidFill>
              </a:rPr>
              <a:t>92%</a:t>
            </a:r>
          </a:p>
          <a:p>
            <a:pPr algn="ctr"/>
            <a:r>
              <a:rPr lang="es-CO" sz="1400" b="0" i="0" noProof="0" dirty="0" err="1">
                <a:solidFill>
                  <a:srgbClr val="F0F4F8"/>
                </a:solidFill>
              </a:rPr>
              <a:t>Accuracy</a:t>
            </a:r>
            <a:r>
              <a:rPr lang="es-CO" sz="1400" b="0" i="0" noProof="0" dirty="0">
                <a:solidFill>
                  <a:srgbClr val="F0F4F8"/>
                </a:solidFill>
              </a:rPr>
              <a:t> en conjunto
de prueba (30%)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6174740" y="3301900"/>
            <a:ext cx="24993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600" b="1" i="0" noProof="0" dirty="0">
                <a:solidFill>
                  <a:srgbClr val="1E3A5F"/>
                </a:solidFill>
              </a:rPr>
              <a:t>Ventajas del modelo:</a:t>
            </a:r>
          </a:p>
          <a:p>
            <a:pPr algn="l"/>
            <a:endParaRPr lang="es-CO" sz="1600" b="1" i="0" noProof="0" dirty="0">
              <a:solidFill>
                <a:srgbClr val="1E3A5F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MX" sz="1200" b="1" i="0" noProof="0" dirty="0">
                <a:solidFill>
                  <a:srgbClr val="1E3A5F"/>
                </a:solidFill>
              </a:rPr>
              <a:t>El modelo genera una probabilidad continua entre 0 y 1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s-CO" sz="1200" b="1" i="0" noProof="0" dirty="0">
              <a:solidFill>
                <a:srgbClr val="1E3A5F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MX" sz="1200" b="1" dirty="0">
                <a:solidFill>
                  <a:srgbClr val="1E3A5F"/>
                </a:solidFill>
              </a:rPr>
              <a:t>Permite identificar en qué punto  el riesgo se vuelve más sensible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s-CO" sz="1200" b="1" dirty="0">
              <a:solidFill>
                <a:srgbClr val="1E3A5F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MX" sz="1200" b="1" i="0" noProof="0" dirty="0">
                <a:solidFill>
                  <a:srgbClr val="1E3A5F"/>
                </a:solidFill>
              </a:rPr>
              <a:t>Punto más decisivo de la trayectoria del estudiantes</a:t>
            </a:r>
            <a:endParaRPr lang="es-CO" sz="1200" b="1" dirty="0">
              <a:solidFill>
                <a:srgbClr val="1E3A5F"/>
              </a:solidFill>
            </a:endParaRPr>
          </a:p>
        </p:txBody>
      </p:sp>
      <p:sp>
        <p:nvSpPr>
          <p:cNvPr id="4" name="Rectangle 998">
            <a:extLst>
              <a:ext uri="{FF2B5EF4-FFF2-40B4-BE49-F238E27FC236}">
                <a16:creationId xmlns:a16="http://schemas.microsoft.com/office/drawing/2014/main" id="{51FAB187-AA73-CBA1-E057-28D09E6CE203}"/>
              </a:ext>
            </a:extLst>
          </p:cNvPr>
          <p:cNvSpPr/>
          <p:nvPr/>
        </p:nvSpPr>
        <p:spPr>
          <a:xfrm>
            <a:off x="0" y="6454748"/>
            <a:ext cx="9144000" cy="4032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CO" sz="900" b="1" i="0" noProof="0" dirty="0">
                <a:solidFill>
                  <a:srgbClr val="FFFFFF"/>
                </a:solidFill>
              </a:rPr>
              <a:t>The OAS Summit </a:t>
            </a:r>
            <a:r>
              <a:rPr lang="es-CO" sz="900" b="1" i="0" noProof="0" dirty="0" err="1">
                <a:solidFill>
                  <a:srgbClr val="FFFFFF"/>
                </a:solidFill>
              </a:rPr>
              <a:t>of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for</a:t>
            </a:r>
            <a:r>
              <a:rPr lang="es-CO" sz="900" b="1" i="0" noProof="0" dirty="0">
                <a:solidFill>
                  <a:srgbClr val="FFFFFF"/>
                </a:solidFill>
              </a:rPr>
              <a:t> the Americas. </a:t>
            </a:r>
            <a:r>
              <a:rPr lang="es-CO" sz="900" b="0" i="0" noProof="0" dirty="0">
                <a:solidFill>
                  <a:srgbClr val="FFFFFF"/>
                </a:solidFill>
              </a:rPr>
              <a:t>24th LACCEI International </a:t>
            </a:r>
            <a:r>
              <a:rPr lang="es-CO" sz="1000" b="0" i="0" noProof="0" dirty="0">
                <a:solidFill>
                  <a:srgbClr val="FFFFFF"/>
                </a:solidFill>
              </a:rPr>
              <a:t>Multi-</a:t>
            </a:r>
            <a:r>
              <a:rPr lang="es-CO" sz="1000" b="0" i="0" noProof="0" dirty="0" err="1">
                <a:solidFill>
                  <a:srgbClr val="FFFFFF"/>
                </a:solidFill>
              </a:rPr>
              <a:t>Conference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for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0" noProof="0" dirty="0">
                <a:solidFill>
                  <a:srgbClr val="FFFFFF"/>
                </a:solidFill>
              </a:rPr>
              <a:t>, </a:t>
            </a:r>
            <a:r>
              <a:rPr lang="es-CO" sz="900" b="0" i="0" noProof="0" dirty="0" err="1">
                <a:solidFill>
                  <a:srgbClr val="FFFFFF"/>
                </a:solidFill>
              </a:rPr>
              <a:t>Education</a:t>
            </a:r>
            <a:r>
              <a:rPr lang="es-CO" sz="900" b="0" i="0" noProof="0" dirty="0">
                <a:solidFill>
                  <a:srgbClr val="FFFFFF"/>
                </a:solidFill>
              </a:rPr>
              <a:t>, and </a:t>
            </a:r>
            <a:r>
              <a:rPr lang="es-CO" sz="900" b="0" i="0" noProof="0" dirty="0" err="1">
                <a:solidFill>
                  <a:srgbClr val="FFFFFF"/>
                </a:solidFill>
              </a:rPr>
              <a:t>Technology</a:t>
            </a:r>
            <a:r>
              <a:rPr lang="es-CO" sz="900" b="0" i="0" noProof="0" dirty="0">
                <a:solidFill>
                  <a:srgbClr val="FFFFFF"/>
                </a:solidFill>
              </a:rPr>
              <a:t>: </a:t>
            </a:r>
            <a:r>
              <a:rPr lang="es-CO" sz="900" b="0" i="1" noProof="0" dirty="0">
                <a:solidFill>
                  <a:srgbClr val="FFFFFF"/>
                </a:solidFill>
              </a:rPr>
              <a:t>“</a:t>
            </a:r>
            <a:r>
              <a:rPr lang="es-CO" sz="900" b="0" i="1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without</a:t>
            </a:r>
            <a:endParaRPr lang="es-CO" sz="900" b="0" i="1" noProof="0" dirty="0">
              <a:solidFill>
                <a:srgbClr val="FFFFFF"/>
              </a:solidFill>
            </a:endParaRPr>
          </a:p>
          <a:p>
            <a:pPr algn="ctr"/>
            <a:r>
              <a:rPr lang="es-CO" sz="900" b="0" i="1" noProof="0" dirty="0">
                <a:solidFill>
                  <a:srgbClr val="FFFFFF"/>
                </a:solidFill>
              </a:rPr>
              <a:t> Borders: Artificial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Intelligence</a:t>
            </a:r>
            <a:r>
              <a:rPr lang="es-CO" sz="900" b="0" i="1" noProof="0" dirty="0">
                <a:solidFill>
                  <a:srgbClr val="FFFFFF"/>
                </a:solidFill>
              </a:rPr>
              <a:t>, Knowledge,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Innovation</a:t>
            </a:r>
            <a:r>
              <a:rPr lang="es-CO" sz="900" b="0" i="1" noProof="0" dirty="0">
                <a:solidFill>
                  <a:srgbClr val="FFFFFF"/>
                </a:solidFill>
              </a:rPr>
              <a:t>, and </a:t>
            </a:r>
            <a:r>
              <a:rPr lang="es-CO" sz="900" b="0" i="1" noProof="0" dirty="0" err="1">
                <a:solidFill>
                  <a:srgbClr val="FFFFFF"/>
                </a:solidFill>
              </a:rPr>
              <a:t>Alliances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for</a:t>
            </a:r>
            <a:r>
              <a:rPr lang="es-CO" sz="900" b="0" i="1" noProof="0" dirty="0">
                <a:solidFill>
                  <a:srgbClr val="FFFFFF"/>
                </a:solidFill>
              </a:rPr>
              <a:t> a Future </a:t>
            </a:r>
            <a:r>
              <a:rPr lang="es-CO" sz="900" b="0" i="1" noProof="0" dirty="0" err="1">
                <a:solidFill>
                  <a:srgbClr val="FFFFFF"/>
                </a:solidFill>
              </a:rPr>
              <a:t>from</a:t>
            </a:r>
            <a:r>
              <a:rPr lang="es-CO" sz="900" b="0" i="1" noProof="0" dirty="0">
                <a:solidFill>
                  <a:srgbClr val="FFFFFF"/>
                </a:solidFill>
              </a:rPr>
              <a:t> the Americas”</a:t>
            </a:r>
            <a:r>
              <a:rPr lang="es-CO" sz="900" b="0" i="0" noProof="0" dirty="0">
                <a:solidFill>
                  <a:srgbClr val="FFFFFF"/>
                </a:solidFill>
              </a:rPr>
              <a:t>. </a:t>
            </a:r>
            <a:r>
              <a:rPr lang="es-CO" sz="900" b="0" i="0" noProof="0" dirty="0" err="1">
                <a:solidFill>
                  <a:srgbClr val="FFFFFF"/>
                </a:solidFill>
              </a:rPr>
              <a:t>Hybrid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Event</a:t>
            </a:r>
            <a:r>
              <a:rPr lang="es-CO" sz="900" b="0" i="0" noProof="0" dirty="0">
                <a:solidFill>
                  <a:srgbClr val="FFFFFF"/>
                </a:solidFill>
              </a:rPr>
              <a:t>, Santiago-Chile, </a:t>
            </a:r>
            <a:r>
              <a:rPr lang="es-CO" sz="900" b="0" i="0" noProof="0" dirty="0" err="1">
                <a:solidFill>
                  <a:srgbClr val="FFFFFF"/>
                </a:solidFill>
              </a:rPr>
              <a:t>July</a:t>
            </a:r>
            <a:r>
              <a:rPr lang="es-CO" sz="900" b="0" i="0" noProof="0" dirty="0">
                <a:solidFill>
                  <a:srgbClr val="FFFFFF"/>
                </a:solidFill>
              </a:rPr>
              <a:t> 15 - 17,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04">
            <a:extLst>
              <a:ext uri="{FF2B5EF4-FFF2-40B4-BE49-F238E27FC236}">
                <a16:creationId xmlns:a16="http://schemas.microsoft.com/office/drawing/2014/main" id="{0E7CBA5D-0CF1-4057-A778-E51B1914CDE7}"/>
              </a:ext>
            </a:extLst>
          </p:cNvPr>
          <p:cNvSpPr/>
          <p:nvPr/>
        </p:nvSpPr>
        <p:spPr>
          <a:xfrm>
            <a:off x="5504293" y="1753374"/>
            <a:ext cx="3342832" cy="3428226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rgbClr val="004566"/>
              </a:solidFill>
            </a:endParaRPr>
          </a:p>
        </p:txBody>
      </p:sp>
      <p:pic>
        <p:nvPicPr>
          <p:cNvPr id="2" name="Picture 1" descr="layout1_im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75" y="63093"/>
            <a:ext cx="1362456" cy="745236"/>
          </a:xfrm>
          <a:prstGeom prst="rect">
            <a:avLst/>
          </a:prstGeom>
        </p:spPr>
      </p:pic>
      <p:sp>
        <p:nvSpPr>
          <p:cNvPr id="998" name="LeftBar"/>
          <p:cNvSpPr/>
          <p:nvPr/>
        </p:nvSpPr>
        <p:spPr>
          <a:xfrm>
            <a:off x="399960" y="365040"/>
            <a:ext cx="0" cy="1978200"/>
          </a:xfrm>
          <a:prstGeom prst="line">
            <a:avLst/>
          </a:prstGeom>
          <a:ln w="57240">
            <a:solidFill>
              <a:srgbClr val="404040"/>
            </a:solidFill>
            <a:miter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00" name="TextBox 999"/>
          <p:cNvSpPr txBox="1"/>
          <p:nvPr/>
        </p:nvSpPr>
        <p:spPr>
          <a:xfrm>
            <a:off x="628192" y="364845"/>
            <a:ext cx="62407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100" b="1" i="0" noProof="0" dirty="0">
                <a:solidFill>
                  <a:srgbClr val="1E3A5F"/>
                </a:solidFill>
              </a:rPr>
              <a:t> Distribución Conjunta: </a:t>
            </a:r>
            <a:r>
              <a:rPr lang="es-CO" sz="2100" b="1" dirty="0">
                <a:solidFill>
                  <a:srgbClr val="1E3A5F"/>
                </a:solidFill>
              </a:rPr>
              <a:t>Materias Aprobadas</a:t>
            </a:r>
            <a:r>
              <a:rPr lang="es-CO" sz="2100" b="1" i="0" noProof="0" dirty="0">
                <a:solidFill>
                  <a:srgbClr val="1E3A5F"/>
                </a:solidFill>
              </a:rPr>
              <a:t> vs. Inscritas (Fig. 1)</a:t>
            </a:r>
          </a:p>
        </p:txBody>
      </p:sp>
      <p:pic>
        <p:nvPicPr>
          <p:cNvPr id="1001" name="Picture 1000" descr="WhatsApp Image 2026-06-13 at 9.03.06 PM (2)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" y="1874519"/>
            <a:ext cx="4572000" cy="3465576"/>
          </a:xfrm>
          <a:prstGeom prst="rect">
            <a:avLst/>
          </a:prstGeom>
        </p:spPr>
      </p:pic>
      <p:sp>
        <p:nvSpPr>
          <p:cNvPr id="1004" name="TextBox 1003"/>
          <p:cNvSpPr txBox="1"/>
          <p:nvPr/>
        </p:nvSpPr>
        <p:spPr>
          <a:xfrm>
            <a:off x="628192" y="5440679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1" noProof="0" dirty="0">
                <a:solidFill>
                  <a:srgbClr val="607080"/>
                </a:solidFill>
              </a:rPr>
              <a:t>Semestre 2022-1  ·  Figura 1 del </a:t>
            </a:r>
            <a:r>
              <a:rPr lang="es-CO" sz="1000" b="0" i="1" noProof="0" dirty="0" err="1">
                <a:solidFill>
                  <a:srgbClr val="607080"/>
                </a:solidFill>
              </a:rPr>
              <a:t>paper</a:t>
            </a:r>
            <a:endParaRPr lang="es-CO" sz="1000" b="0" i="1" noProof="0" dirty="0">
              <a:solidFill>
                <a:srgbClr val="607080"/>
              </a:solidFill>
            </a:endParaRPr>
          </a:p>
        </p:txBody>
      </p:sp>
      <p:sp>
        <p:nvSpPr>
          <p:cNvPr id="4" name="Rectangle 998">
            <a:extLst>
              <a:ext uri="{FF2B5EF4-FFF2-40B4-BE49-F238E27FC236}">
                <a16:creationId xmlns:a16="http://schemas.microsoft.com/office/drawing/2014/main" id="{C0AD5A18-424F-0EE2-831E-EE38B3561EC2}"/>
              </a:ext>
            </a:extLst>
          </p:cNvPr>
          <p:cNvSpPr/>
          <p:nvPr/>
        </p:nvSpPr>
        <p:spPr>
          <a:xfrm>
            <a:off x="0" y="6454748"/>
            <a:ext cx="9144000" cy="4032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CO" sz="900" b="1" i="0" noProof="0" dirty="0">
                <a:solidFill>
                  <a:srgbClr val="FFFFFF"/>
                </a:solidFill>
              </a:rPr>
              <a:t>The OAS Summit </a:t>
            </a:r>
            <a:r>
              <a:rPr lang="es-CO" sz="900" b="1" i="0" noProof="0" dirty="0" err="1">
                <a:solidFill>
                  <a:srgbClr val="FFFFFF"/>
                </a:solidFill>
              </a:rPr>
              <a:t>of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for</a:t>
            </a:r>
            <a:r>
              <a:rPr lang="es-CO" sz="900" b="1" i="0" noProof="0" dirty="0">
                <a:solidFill>
                  <a:srgbClr val="FFFFFF"/>
                </a:solidFill>
              </a:rPr>
              <a:t> the Americas. </a:t>
            </a:r>
            <a:r>
              <a:rPr lang="es-CO" sz="900" b="0" i="0" noProof="0" dirty="0">
                <a:solidFill>
                  <a:srgbClr val="FFFFFF"/>
                </a:solidFill>
              </a:rPr>
              <a:t>24th LACCEI International </a:t>
            </a:r>
            <a:r>
              <a:rPr lang="es-CO" sz="1000" b="0" i="0" noProof="0" dirty="0">
                <a:solidFill>
                  <a:srgbClr val="FFFFFF"/>
                </a:solidFill>
              </a:rPr>
              <a:t>Multi-</a:t>
            </a:r>
            <a:r>
              <a:rPr lang="es-CO" sz="1000" b="0" i="0" noProof="0" dirty="0" err="1">
                <a:solidFill>
                  <a:srgbClr val="FFFFFF"/>
                </a:solidFill>
              </a:rPr>
              <a:t>Conference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for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0" noProof="0" dirty="0">
                <a:solidFill>
                  <a:srgbClr val="FFFFFF"/>
                </a:solidFill>
              </a:rPr>
              <a:t>, </a:t>
            </a:r>
            <a:r>
              <a:rPr lang="es-CO" sz="900" b="0" i="0" noProof="0" dirty="0" err="1">
                <a:solidFill>
                  <a:srgbClr val="FFFFFF"/>
                </a:solidFill>
              </a:rPr>
              <a:t>Education</a:t>
            </a:r>
            <a:r>
              <a:rPr lang="es-CO" sz="900" b="0" i="0" noProof="0" dirty="0">
                <a:solidFill>
                  <a:srgbClr val="FFFFFF"/>
                </a:solidFill>
              </a:rPr>
              <a:t>, and </a:t>
            </a:r>
            <a:r>
              <a:rPr lang="es-CO" sz="900" b="0" i="0" noProof="0" dirty="0" err="1">
                <a:solidFill>
                  <a:srgbClr val="FFFFFF"/>
                </a:solidFill>
              </a:rPr>
              <a:t>Technology</a:t>
            </a:r>
            <a:r>
              <a:rPr lang="es-CO" sz="900" b="0" i="0" noProof="0" dirty="0">
                <a:solidFill>
                  <a:srgbClr val="FFFFFF"/>
                </a:solidFill>
              </a:rPr>
              <a:t>: </a:t>
            </a:r>
            <a:r>
              <a:rPr lang="es-CO" sz="900" b="0" i="1" noProof="0" dirty="0">
                <a:solidFill>
                  <a:srgbClr val="FFFFFF"/>
                </a:solidFill>
              </a:rPr>
              <a:t>“</a:t>
            </a:r>
            <a:r>
              <a:rPr lang="es-CO" sz="900" b="0" i="1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without</a:t>
            </a:r>
            <a:endParaRPr lang="es-CO" sz="900" b="0" i="1" noProof="0" dirty="0">
              <a:solidFill>
                <a:srgbClr val="FFFFFF"/>
              </a:solidFill>
            </a:endParaRPr>
          </a:p>
          <a:p>
            <a:pPr algn="ctr"/>
            <a:r>
              <a:rPr lang="es-CO" sz="900" b="0" i="1" noProof="0" dirty="0">
                <a:solidFill>
                  <a:srgbClr val="FFFFFF"/>
                </a:solidFill>
              </a:rPr>
              <a:t> Borders: Artificial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Intelligence</a:t>
            </a:r>
            <a:r>
              <a:rPr lang="es-CO" sz="900" b="0" i="1" noProof="0" dirty="0">
                <a:solidFill>
                  <a:srgbClr val="FFFFFF"/>
                </a:solidFill>
              </a:rPr>
              <a:t>, Knowledge,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Innovation</a:t>
            </a:r>
            <a:r>
              <a:rPr lang="es-CO" sz="900" b="0" i="1" noProof="0" dirty="0">
                <a:solidFill>
                  <a:srgbClr val="FFFFFF"/>
                </a:solidFill>
              </a:rPr>
              <a:t>, and </a:t>
            </a:r>
            <a:r>
              <a:rPr lang="es-CO" sz="900" b="0" i="1" noProof="0" dirty="0" err="1">
                <a:solidFill>
                  <a:srgbClr val="FFFFFF"/>
                </a:solidFill>
              </a:rPr>
              <a:t>Alliances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for</a:t>
            </a:r>
            <a:r>
              <a:rPr lang="es-CO" sz="900" b="0" i="1" noProof="0" dirty="0">
                <a:solidFill>
                  <a:srgbClr val="FFFFFF"/>
                </a:solidFill>
              </a:rPr>
              <a:t> a Future </a:t>
            </a:r>
            <a:r>
              <a:rPr lang="es-CO" sz="900" b="0" i="1" noProof="0" dirty="0" err="1">
                <a:solidFill>
                  <a:srgbClr val="FFFFFF"/>
                </a:solidFill>
              </a:rPr>
              <a:t>from</a:t>
            </a:r>
            <a:r>
              <a:rPr lang="es-CO" sz="900" b="0" i="1" noProof="0" dirty="0">
                <a:solidFill>
                  <a:srgbClr val="FFFFFF"/>
                </a:solidFill>
              </a:rPr>
              <a:t> the Americas”</a:t>
            </a:r>
            <a:r>
              <a:rPr lang="es-CO" sz="900" b="0" i="0" noProof="0" dirty="0">
                <a:solidFill>
                  <a:srgbClr val="FFFFFF"/>
                </a:solidFill>
              </a:rPr>
              <a:t>. </a:t>
            </a:r>
            <a:r>
              <a:rPr lang="es-CO" sz="900" b="0" i="0" noProof="0" dirty="0" err="1">
                <a:solidFill>
                  <a:srgbClr val="FFFFFF"/>
                </a:solidFill>
              </a:rPr>
              <a:t>Hybrid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Event</a:t>
            </a:r>
            <a:r>
              <a:rPr lang="es-CO" sz="900" b="0" i="0" noProof="0" dirty="0">
                <a:solidFill>
                  <a:srgbClr val="FFFFFF"/>
                </a:solidFill>
              </a:rPr>
              <a:t>, Santiago-Chile, </a:t>
            </a:r>
            <a:r>
              <a:rPr lang="es-CO" sz="900" b="0" i="0" noProof="0" dirty="0" err="1">
                <a:solidFill>
                  <a:srgbClr val="FFFFFF"/>
                </a:solidFill>
              </a:rPr>
              <a:t>July</a:t>
            </a:r>
            <a:r>
              <a:rPr lang="es-CO" sz="900" b="0" i="0" noProof="0" dirty="0">
                <a:solidFill>
                  <a:srgbClr val="FFFFFF"/>
                </a:solidFill>
              </a:rPr>
              <a:t> 15 - 17, 2026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CDEF343-28AE-D6BA-7D7B-0E963346C228}"/>
              </a:ext>
            </a:extLst>
          </p:cNvPr>
          <p:cNvSpPr txBox="1"/>
          <p:nvPr/>
        </p:nvSpPr>
        <p:spPr>
          <a:xfrm>
            <a:off x="5504293" y="2020074"/>
            <a:ext cx="3309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solidFill>
                  <a:srgbClr val="004566"/>
                </a:solidFill>
              </a:rPr>
              <a:t>¿Existe un patrón común entre los estudiantes?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916CCEF-808C-1BE0-7C9D-51D05EE8B76A}"/>
              </a:ext>
            </a:extLst>
          </p:cNvPr>
          <p:cNvSpPr txBox="1"/>
          <p:nvPr/>
        </p:nvSpPr>
        <p:spPr>
          <a:xfrm>
            <a:off x="5626433" y="3225166"/>
            <a:ext cx="30984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rgbClr val="004566"/>
                </a:solidFill>
              </a:rPr>
              <a:t>Estudiantes con la misma carga académica presentan resultados completamente distintos, no existe un patrón uniforme.</a:t>
            </a:r>
            <a:endParaRPr lang="es-CO" dirty="0">
              <a:solidFill>
                <a:srgbClr val="004566"/>
              </a:solidFill>
            </a:endParaRPr>
          </a:p>
          <a:p>
            <a:endParaRPr lang="es-CO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B44211E-C8C8-5406-4D49-AC259CBDE0DA}"/>
              </a:ext>
            </a:extLst>
          </p:cNvPr>
          <p:cNvCxnSpPr>
            <a:cxnSpLocks/>
          </p:cNvCxnSpPr>
          <p:nvPr/>
        </p:nvCxnSpPr>
        <p:spPr>
          <a:xfrm>
            <a:off x="5626433" y="3136900"/>
            <a:ext cx="30984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6AA5A960-8B8F-AE74-19BB-61DB762A79A1}"/>
              </a:ext>
            </a:extLst>
          </p:cNvPr>
          <p:cNvCxnSpPr>
            <a:cxnSpLocks/>
          </p:cNvCxnSpPr>
          <p:nvPr/>
        </p:nvCxnSpPr>
        <p:spPr>
          <a:xfrm>
            <a:off x="5626433" y="3136900"/>
            <a:ext cx="0" cy="1608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98D3A9E9-0AB3-E8E4-4FD3-A5DF3244C5BF}"/>
              </a:ext>
            </a:extLst>
          </p:cNvPr>
          <p:cNvCxnSpPr/>
          <p:nvPr/>
        </p:nvCxnSpPr>
        <p:spPr>
          <a:xfrm flipH="1">
            <a:off x="5626433" y="4745356"/>
            <a:ext cx="30984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BBBDC7A3-12C7-2D35-1B81-C39B7E99B6F6}"/>
              </a:ext>
            </a:extLst>
          </p:cNvPr>
          <p:cNvCxnSpPr>
            <a:cxnSpLocks/>
          </p:cNvCxnSpPr>
          <p:nvPr/>
        </p:nvCxnSpPr>
        <p:spPr>
          <a:xfrm>
            <a:off x="8724900" y="3136900"/>
            <a:ext cx="0" cy="16084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yout1_im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75" y="63093"/>
            <a:ext cx="1362456" cy="745236"/>
          </a:xfrm>
          <a:prstGeom prst="rect">
            <a:avLst/>
          </a:prstGeom>
        </p:spPr>
      </p:pic>
      <p:sp>
        <p:nvSpPr>
          <p:cNvPr id="998" name="LeftBar"/>
          <p:cNvSpPr/>
          <p:nvPr/>
        </p:nvSpPr>
        <p:spPr>
          <a:xfrm>
            <a:off x="399960" y="365040"/>
            <a:ext cx="0" cy="1978200"/>
          </a:xfrm>
          <a:prstGeom prst="line">
            <a:avLst/>
          </a:prstGeom>
          <a:ln w="57240">
            <a:solidFill>
              <a:srgbClr val="404040"/>
            </a:solidFill>
            <a:miter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00" name="TextBox 999"/>
          <p:cNvSpPr txBox="1"/>
          <p:nvPr/>
        </p:nvSpPr>
        <p:spPr>
          <a:xfrm>
            <a:off x="628192" y="364845"/>
            <a:ext cx="62407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100" b="1" i="0" noProof="0" dirty="0">
                <a:solidFill>
                  <a:srgbClr val="1E3A5F"/>
                </a:solidFill>
              </a:rPr>
              <a:t>Perfiles de Correlación Carga y Rendimiento (Fig. 3)</a:t>
            </a:r>
          </a:p>
        </p:txBody>
      </p:sp>
      <p:pic>
        <p:nvPicPr>
          <p:cNvPr id="1001" name="Picture 1000" descr="WhatsApp Image 2026-06-13 at 9.03.06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81" y="871945"/>
            <a:ext cx="4815372" cy="3193869"/>
          </a:xfrm>
          <a:prstGeom prst="rect">
            <a:avLst/>
          </a:prstGeom>
        </p:spPr>
      </p:pic>
      <p:sp>
        <p:nvSpPr>
          <p:cNvPr id="1002" name="Rectangle 1001"/>
          <p:cNvSpPr/>
          <p:nvPr/>
        </p:nvSpPr>
        <p:spPr>
          <a:xfrm>
            <a:off x="5715521" y="1087595"/>
            <a:ext cx="56853" cy="934927"/>
          </a:xfrm>
          <a:prstGeom prst="rect">
            <a:avLst/>
          </a:prstGeom>
          <a:solidFill>
            <a:srgbClr val="B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3" name="Rectangle 1002"/>
          <p:cNvSpPr/>
          <p:nvPr/>
        </p:nvSpPr>
        <p:spPr>
          <a:xfrm>
            <a:off x="5788674" y="1087595"/>
            <a:ext cx="2890026" cy="934927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4" name="TextBox 1003"/>
          <p:cNvSpPr txBox="1"/>
          <p:nvPr/>
        </p:nvSpPr>
        <p:spPr>
          <a:xfrm>
            <a:off x="5817933" y="1141380"/>
            <a:ext cx="26531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600" b="1" i="0" noProof="0" dirty="0">
                <a:solidFill>
                  <a:srgbClr val="B03030"/>
                </a:solidFill>
              </a:rPr>
              <a:t>Sobrecarga  (r &lt; −0.5)</a:t>
            </a:r>
          </a:p>
        </p:txBody>
      </p:sp>
      <p:sp>
        <p:nvSpPr>
          <p:cNvPr id="1005" name="Rectangle 1004"/>
          <p:cNvSpPr/>
          <p:nvPr/>
        </p:nvSpPr>
        <p:spPr>
          <a:xfrm>
            <a:off x="5715521" y="2126734"/>
            <a:ext cx="56853" cy="920783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6" name="Rectangle 1005"/>
          <p:cNvSpPr/>
          <p:nvPr/>
        </p:nvSpPr>
        <p:spPr>
          <a:xfrm>
            <a:off x="5788674" y="2126734"/>
            <a:ext cx="2890026" cy="920783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7" name="TextBox 1006"/>
          <p:cNvSpPr txBox="1"/>
          <p:nvPr/>
        </p:nvSpPr>
        <p:spPr>
          <a:xfrm>
            <a:off x="5817933" y="2185743"/>
            <a:ext cx="2964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600" b="1" i="0" noProof="0" dirty="0">
                <a:solidFill>
                  <a:srgbClr val="007994"/>
                </a:solidFill>
              </a:rPr>
              <a:t>Independiente  (−0.5 ≤ r ≤ 0.5)</a:t>
            </a:r>
          </a:p>
        </p:txBody>
      </p:sp>
      <p:sp>
        <p:nvSpPr>
          <p:cNvPr id="1008" name="Rectangle 1007"/>
          <p:cNvSpPr/>
          <p:nvPr/>
        </p:nvSpPr>
        <p:spPr>
          <a:xfrm>
            <a:off x="5715521" y="3114421"/>
            <a:ext cx="56751" cy="891775"/>
          </a:xfrm>
          <a:prstGeom prst="rect">
            <a:avLst/>
          </a:prstGeom>
          <a:solidFill>
            <a:srgbClr val="1A6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9" name="Rectangle 1008"/>
          <p:cNvSpPr/>
          <p:nvPr/>
        </p:nvSpPr>
        <p:spPr>
          <a:xfrm>
            <a:off x="5788674" y="3114421"/>
            <a:ext cx="2884836" cy="891775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10" name="TextBox 1009"/>
          <p:cNvSpPr txBox="1"/>
          <p:nvPr/>
        </p:nvSpPr>
        <p:spPr>
          <a:xfrm>
            <a:off x="5889258" y="3124105"/>
            <a:ext cx="26483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600" b="1" i="0" noProof="0" dirty="0">
                <a:solidFill>
                  <a:srgbClr val="1A6A2A"/>
                </a:solidFill>
              </a:rPr>
              <a:t>Mejora con Carga  (r &gt; 0.5)</a:t>
            </a:r>
          </a:p>
        </p:txBody>
      </p:sp>
      <p:sp>
        <p:nvSpPr>
          <p:cNvPr id="1011" name="Rectangle 1010"/>
          <p:cNvSpPr/>
          <p:nvPr/>
        </p:nvSpPr>
        <p:spPr>
          <a:xfrm>
            <a:off x="5772374" y="4300583"/>
            <a:ext cx="3010036" cy="1592217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12" name="TextBox 1011"/>
          <p:cNvSpPr txBox="1"/>
          <p:nvPr/>
        </p:nvSpPr>
        <p:spPr>
          <a:xfrm>
            <a:off x="5910840" y="4415536"/>
            <a:ext cx="27678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i="0" noProof="0" dirty="0">
                <a:solidFill>
                  <a:srgbClr val="1E3A5F"/>
                </a:solidFill>
              </a:rPr>
              <a:t>¿Qué significa?</a:t>
            </a:r>
            <a:r>
              <a:rPr lang="es-MX" sz="1400" dirty="0"/>
              <a:t> </a:t>
            </a:r>
          </a:p>
          <a:p>
            <a:pPr algn="just"/>
            <a:r>
              <a:rPr lang="es-MX" sz="1400" dirty="0"/>
              <a:t>La correlación mide la sensibilidad, no su nivel. Con estos datos, la institución puede identificar cada perfil y diseñar intervenciones diferenciadas.</a:t>
            </a:r>
            <a:endParaRPr lang="es-CO" sz="1400" b="0" i="1" noProof="0" dirty="0"/>
          </a:p>
        </p:txBody>
      </p:sp>
      <p:sp>
        <p:nvSpPr>
          <p:cNvPr id="4" name="Rectangle 998">
            <a:extLst>
              <a:ext uri="{FF2B5EF4-FFF2-40B4-BE49-F238E27FC236}">
                <a16:creationId xmlns:a16="http://schemas.microsoft.com/office/drawing/2014/main" id="{13D99FAA-4259-5D50-E3F5-E6CA0C93C8BC}"/>
              </a:ext>
            </a:extLst>
          </p:cNvPr>
          <p:cNvSpPr/>
          <p:nvPr/>
        </p:nvSpPr>
        <p:spPr>
          <a:xfrm>
            <a:off x="0" y="6454748"/>
            <a:ext cx="9144000" cy="4032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CO" sz="900" b="1" i="0" noProof="0" dirty="0">
                <a:solidFill>
                  <a:srgbClr val="FFFFFF"/>
                </a:solidFill>
              </a:rPr>
              <a:t>The OAS Summit </a:t>
            </a:r>
            <a:r>
              <a:rPr lang="es-CO" sz="900" b="1" i="0" noProof="0" dirty="0" err="1">
                <a:solidFill>
                  <a:srgbClr val="FFFFFF"/>
                </a:solidFill>
              </a:rPr>
              <a:t>of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for</a:t>
            </a:r>
            <a:r>
              <a:rPr lang="es-CO" sz="900" b="1" i="0" noProof="0" dirty="0">
                <a:solidFill>
                  <a:srgbClr val="FFFFFF"/>
                </a:solidFill>
              </a:rPr>
              <a:t> the Americas. </a:t>
            </a:r>
            <a:r>
              <a:rPr lang="es-CO" sz="900" b="0" i="0" noProof="0" dirty="0">
                <a:solidFill>
                  <a:srgbClr val="FFFFFF"/>
                </a:solidFill>
              </a:rPr>
              <a:t>24th LACCEI International </a:t>
            </a:r>
            <a:r>
              <a:rPr lang="es-CO" sz="1000" b="0" i="0" noProof="0" dirty="0">
                <a:solidFill>
                  <a:srgbClr val="FFFFFF"/>
                </a:solidFill>
              </a:rPr>
              <a:t>Multi-</a:t>
            </a:r>
            <a:r>
              <a:rPr lang="es-CO" sz="1000" b="0" i="0" noProof="0" dirty="0" err="1">
                <a:solidFill>
                  <a:srgbClr val="FFFFFF"/>
                </a:solidFill>
              </a:rPr>
              <a:t>Conference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for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0" noProof="0" dirty="0">
                <a:solidFill>
                  <a:srgbClr val="FFFFFF"/>
                </a:solidFill>
              </a:rPr>
              <a:t>, </a:t>
            </a:r>
            <a:r>
              <a:rPr lang="es-CO" sz="900" b="0" i="0" noProof="0" dirty="0" err="1">
                <a:solidFill>
                  <a:srgbClr val="FFFFFF"/>
                </a:solidFill>
              </a:rPr>
              <a:t>Education</a:t>
            </a:r>
            <a:r>
              <a:rPr lang="es-CO" sz="900" b="0" i="0" noProof="0" dirty="0">
                <a:solidFill>
                  <a:srgbClr val="FFFFFF"/>
                </a:solidFill>
              </a:rPr>
              <a:t>, and </a:t>
            </a:r>
            <a:r>
              <a:rPr lang="es-CO" sz="900" b="0" i="0" noProof="0" dirty="0" err="1">
                <a:solidFill>
                  <a:srgbClr val="FFFFFF"/>
                </a:solidFill>
              </a:rPr>
              <a:t>Technology</a:t>
            </a:r>
            <a:r>
              <a:rPr lang="es-CO" sz="900" b="0" i="0" noProof="0" dirty="0">
                <a:solidFill>
                  <a:srgbClr val="FFFFFF"/>
                </a:solidFill>
              </a:rPr>
              <a:t>: </a:t>
            </a:r>
            <a:r>
              <a:rPr lang="es-CO" sz="900" b="0" i="1" noProof="0" dirty="0">
                <a:solidFill>
                  <a:srgbClr val="FFFFFF"/>
                </a:solidFill>
              </a:rPr>
              <a:t>“</a:t>
            </a:r>
            <a:r>
              <a:rPr lang="es-CO" sz="900" b="0" i="1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without</a:t>
            </a:r>
            <a:endParaRPr lang="es-CO" sz="900" b="0" i="1" noProof="0" dirty="0">
              <a:solidFill>
                <a:srgbClr val="FFFFFF"/>
              </a:solidFill>
            </a:endParaRPr>
          </a:p>
          <a:p>
            <a:pPr algn="ctr"/>
            <a:r>
              <a:rPr lang="es-CO" sz="900" b="0" i="1" noProof="0" dirty="0">
                <a:solidFill>
                  <a:srgbClr val="FFFFFF"/>
                </a:solidFill>
              </a:rPr>
              <a:t> Borders: Artificial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Intelligence</a:t>
            </a:r>
            <a:r>
              <a:rPr lang="es-CO" sz="900" b="0" i="1" noProof="0" dirty="0">
                <a:solidFill>
                  <a:srgbClr val="FFFFFF"/>
                </a:solidFill>
              </a:rPr>
              <a:t>, Knowledge,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Innovation</a:t>
            </a:r>
            <a:r>
              <a:rPr lang="es-CO" sz="900" b="0" i="1" noProof="0" dirty="0">
                <a:solidFill>
                  <a:srgbClr val="FFFFFF"/>
                </a:solidFill>
              </a:rPr>
              <a:t>, and </a:t>
            </a:r>
            <a:r>
              <a:rPr lang="es-CO" sz="900" b="0" i="1" noProof="0" dirty="0" err="1">
                <a:solidFill>
                  <a:srgbClr val="FFFFFF"/>
                </a:solidFill>
              </a:rPr>
              <a:t>Alliances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for</a:t>
            </a:r>
            <a:r>
              <a:rPr lang="es-CO" sz="900" b="0" i="1" noProof="0" dirty="0">
                <a:solidFill>
                  <a:srgbClr val="FFFFFF"/>
                </a:solidFill>
              </a:rPr>
              <a:t> a Future </a:t>
            </a:r>
            <a:r>
              <a:rPr lang="es-CO" sz="900" b="0" i="1" noProof="0" dirty="0" err="1">
                <a:solidFill>
                  <a:srgbClr val="FFFFFF"/>
                </a:solidFill>
              </a:rPr>
              <a:t>from</a:t>
            </a:r>
            <a:r>
              <a:rPr lang="es-CO" sz="900" b="0" i="1" noProof="0" dirty="0">
                <a:solidFill>
                  <a:srgbClr val="FFFFFF"/>
                </a:solidFill>
              </a:rPr>
              <a:t> the Americas”</a:t>
            </a:r>
            <a:r>
              <a:rPr lang="es-CO" sz="900" b="0" i="0" noProof="0" dirty="0">
                <a:solidFill>
                  <a:srgbClr val="FFFFFF"/>
                </a:solidFill>
              </a:rPr>
              <a:t>. </a:t>
            </a:r>
            <a:r>
              <a:rPr lang="es-CO" sz="900" b="0" i="0" noProof="0" dirty="0" err="1">
                <a:solidFill>
                  <a:srgbClr val="FFFFFF"/>
                </a:solidFill>
              </a:rPr>
              <a:t>Hybrid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Event</a:t>
            </a:r>
            <a:r>
              <a:rPr lang="es-CO" sz="900" b="0" i="0" noProof="0" dirty="0">
                <a:solidFill>
                  <a:srgbClr val="FFFFFF"/>
                </a:solidFill>
              </a:rPr>
              <a:t>, Santiago-Chile, </a:t>
            </a:r>
            <a:r>
              <a:rPr lang="es-CO" sz="900" b="0" i="0" noProof="0" dirty="0" err="1">
                <a:solidFill>
                  <a:srgbClr val="FFFFFF"/>
                </a:solidFill>
              </a:rPr>
              <a:t>July</a:t>
            </a:r>
            <a:r>
              <a:rPr lang="es-CO" sz="900" b="0" i="0" noProof="0" dirty="0">
                <a:solidFill>
                  <a:srgbClr val="FFFFFF"/>
                </a:solidFill>
              </a:rPr>
              <a:t> 15 - 17, 2026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0A1917-1AA0-B4CD-D64E-9AC4FE2D2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3" y="4156736"/>
            <a:ext cx="5560759" cy="20319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57D4B64-DB18-F1C6-0037-509523929445}"/>
              </a:ext>
            </a:extLst>
          </p:cNvPr>
          <p:cNvSpPr txBox="1"/>
          <p:nvPr/>
        </p:nvSpPr>
        <p:spPr>
          <a:xfrm>
            <a:off x="5889258" y="1499302"/>
            <a:ext cx="2785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Mayor cantidad de materias baja su rendimiento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B18596-D52B-3598-CA2E-13E665D3BB78}"/>
              </a:ext>
            </a:extLst>
          </p:cNvPr>
          <p:cNvSpPr txBox="1"/>
          <p:nvPr/>
        </p:nvSpPr>
        <p:spPr>
          <a:xfrm>
            <a:off x="5931843" y="2524297"/>
            <a:ext cx="2741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La cantidad de materias no afecta su rendimiento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061319C-9E05-DCE1-75C3-43BB48A1C2CB}"/>
              </a:ext>
            </a:extLst>
          </p:cNvPr>
          <p:cNvSpPr txBox="1"/>
          <p:nvPr/>
        </p:nvSpPr>
        <p:spPr>
          <a:xfrm>
            <a:off x="5931843" y="3482976"/>
            <a:ext cx="273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Mayor cantidad de materias sube su rendimiento.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8620BB5-CCA0-4E25-87BE-3FE312DA3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54" y="4091215"/>
            <a:ext cx="5850719" cy="20974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yout1_im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75" y="63093"/>
            <a:ext cx="1362456" cy="745236"/>
          </a:xfrm>
          <a:prstGeom prst="rect">
            <a:avLst/>
          </a:prstGeom>
        </p:spPr>
      </p:pic>
      <p:sp>
        <p:nvSpPr>
          <p:cNvPr id="998" name="LeftBar"/>
          <p:cNvSpPr/>
          <p:nvPr/>
        </p:nvSpPr>
        <p:spPr>
          <a:xfrm>
            <a:off x="399960" y="365040"/>
            <a:ext cx="0" cy="1978200"/>
          </a:xfrm>
          <a:prstGeom prst="line">
            <a:avLst/>
          </a:prstGeom>
          <a:ln w="57240">
            <a:solidFill>
              <a:srgbClr val="404040"/>
            </a:solidFill>
            <a:miter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00" name="TextBox 999"/>
          <p:cNvSpPr txBox="1"/>
          <p:nvPr/>
        </p:nvSpPr>
        <p:spPr>
          <a:xfrm>
            <a:off x="628192" y="364845"/>
            <a:ext cx="6240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100" b="1" i="0" noProof="0" dirty="0">
                <a:solidFill>
                  <a:srgbClr val="1E3A5F"/>
                </a:solidFill>
              </a:rPr>
              <a:t>Conclusiones</a:t>
            </a:r>
          </a:p>
        </p:txBody>
      </p:sp>
      <p:sp>
        <p:nvSpPr>
          <p:cNvPr id="1001" name="Rectangle 1000"/>
          <p:cNvSpPr/>
          <p:nvPr/>
        </p:nvSpPr>
        <p:spPr>
          <a:xfrm>
            <a:off x="853044" y="1599285"/>
            <a:ext cx="658368" cy="2088294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2" name="TextBox 1001"/>
          <p:cNvSpPr txBox="1"/>
          <p:nvPr/>
        </p:nvSpPr>
        <p:spPr>
          <a:xfrm>
            <a:off x="853044" y="2166214"/>
            <a:ext cx="658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600" b="1" i="0" noProof="0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03" name="Rectangle 1002"/>
          <p:cNvSpPr/>
          <p:nvPr/>
        </p:nvSpPr>
        <p:spPr>
          <a:xfrm>
            <a:off x="1511412" y="1599285"/>
            <a:ext cx="2953512" cy="208829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4" name="TextBox 1003"/>
          <p:cNvSpPr txBox="1"/>
          <p:nvPr/>
        </p:nvSpPr>
        <p:spPr>
          <a:xfrm>
            <a:off x="1648572" y="1779001"/>
            <a:ext cx="2724912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600" b="1" i="0" noProof="0" dirty="0">
                <a:solidFill>
                  <a:srgbClr val="1E3A5F"/>
                </a:solidFill>
              </a:rPr>
              <a:t>Indicador robusto</a:t>
            </a:r>
          </a:p>
          <a:p>
            <a:pPr algn="l"/>
            <a:endParaRPr lang="es-CO" sz="1300" b="1" i="0" noProof="0" dirty="0">
              <a:solidFill>
                <a:srgbClr val="1E3A5F"/>
              </a:solidFill>
            </a:endParaRPr>
          </a:p>
          <a:p>
            <a:r>
              <a:rPr lang="es-CO" sz="1400" dirty="0"/>
              <a:t>La tasa de aprobación acumulada predice la permanencia, con una sola variable institucional se alcanzó 92% de </a:t>
            </a:r>
            <a:r>
              <a:rPr lang="es-CO" sz="1400" dirty="0" err="1"/>
              <a:t>accuracy</a:t>
            </a:r>
            <a:r>
              <a:rPr lang="es-CO" sz="1400" dirty="0"/>
              <a:t>.</a:t>
            </a:r>
            <a:endParaRPr lang="es-CO" sz="1400" b="0" i="0" noProof="0" dirty="0"/>
          </a:p>
        </p:txBody>
      </p:sp>
      <p:sp>
        <p:nvSpPr>
          <p:cNvPr id="1005" name="Rectangle 1004"/>
          <p:cNvSpPr/>
          <p:nvPr/>
        </p:nvSpPr>
        <p:spPr>
          <a:xfrm>
            <a:off x="4602084" y="1599284"/>
            <a:ext cx="658368" cy="2088295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6" name="TextBox 1005"/>
          <p:cNvSpPr txBox="1"/>
          <p:nvPr/>
        </p:nvSpPr>
        <p:spPr>
          <a:xfrm>
            <a:off x="4602084" y="2166214"/>
            <a:ext cx="658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600" b="1" i="0" noProof="0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07" name="Rectangle 1006"/>
          <p:cNvSpPr/>
          <p:nvPr/>
        </p:nvSpPr>
        <p:spPr>
          <a:xfrm>
            <a:off x="5260452" y="1599285"/>
            <a:ext cx="2953512" cy="208829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8" name="TextBox 1007"/>
          <p:cNvSpPr txBox="1"/>
          <p:nvPr/>
        </p:nvSpPr>
        <p:spPr>
          <a:xfrm>
            <a:off x="5397612" y="1736445"/>
            <a:ext cx="2816352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600" b="1" i="0" noProof="0" dirty="0">
                <a:solidFill>
                  <a:srgbClr val="1E3A5F"/>
                </a:solidFill>
              </a:rPr>
              <a:t>Perfil del Estudiante</a:t>
            </a:r>
          </a:p>
          <a:p>
            <a:pPr algn="l"/>
            <a:endParaRPr lang="es-CO" sz="1300" b="1" i="0" noProof="0" dirty="0">
              <a:solidFill>
                <a:srgbClr val="1E3A5F"/>
              </a:solidFill>
            </a:endParaRPr>
          </a:p>
          <a:p>
            <a:r>
              <a:rPr lang="es-CO" sz="1400" dirty="0"/>
              <a:t>Los estudiantes no responden igual a la carga académica. Existen tres perfiles con comportamientos opuestos. No hay un efecto uniforme, tratar a todos igual ignora diferencias reales.</a:t>
            </a:r>
            <a:endParaRPr lang="es-CO" sz="1400" b="0" i="0" noProof="0" dirty="0"/>
          </a:p>
        </p:txBody>
      </p:sp>
      <p:sp>
        <p:nvSpPr>
          <p:cNvPr id="1009" name="Rectangle 1008"/>
          <p:cNvSpPr/>
          <p:nvPr/>
        </p:nvSpPr>
        <p:spPr>
          <a:xfrm>
            <a:off x="2247129" y="4060286"/>
            <a:ext cx="658368" cy="1810512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10" name="TextBox 1009"/>
          <p:cNvSpPr txBox="1"/>
          <p:nvPr/>
        </p:nvSpPr>
        <p:spPr>
          <a:xfrm>
            <a:off x="2247129" y="4627215"/>
            <a:ext cx="658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600" b="1" i="0" noProof="0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11" name="Rectangle 1010"/>
          <p:cNvSpPr/>
          <p:nvPr/>
        </p:nvSpPr>
        <p:spPr>
          <a:xfrm>
            <a:off x="2905497" y="4060286"/>
            <a:ext cx="3963476" cy="18105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12" name="TextBox 1011"/>
          <p:cNvSpPr txBox="1"/>
          <p:nvPr/>
        </p:nvSpPr>
        <p:spPr>
          <a:xfrm>
            <a:off x="3042656" y="3901909"/>
            <a:ext cx="382631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s-CO" sz="1300" b="1" i="0" noProof="0" dirty="0">
              <a:solidFill>
                <a:srgbClr val="1E3A5F"/>
              </a:solidFill>
            </a:endParaRPr>
          </a:p>
          <a:p>
            <a:r>
              <a:rPr lang="es-CO" sz="1600" b="1" dirty="0">
                <a:solidFill>
                  <a:schemeClr val="tx2">
                    <a:lumMod val="75000"/>
                  </a:schemeClr>
                </a:solidFill>
              </a:rPr>
              <a:t>La carga académica no determina el rendimiento</a:t>
            </a:r>
          </a:p>
          <a:p>
            <a:endParaRPr lang="es-CO" sz="1600" b="1" i="0" noProof="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s-CO" sz="1400" dirty="0"/>
              <a:t>El grupo con mayor sensibilidad a la carga tiene la tasa de aprobación acumulada más alta. La respuesta a la carga depende del estudiante, no de la carga misma.</a:t>
            </a:r>
            <a:endParaRPr lang="es-CO" sz="1400" b="0" i="0" noProof="0" dirty="0"/>
          </a:p>
        </p:txBody>
      </p:sp>
      <p:sp>
        <p:nvSpPr>
          <p:cNvPr id="4" name="Rectangle 998">
            <a:extLst>
              <a:ext uri="{FF2B5EF4-FFF2-40B4-BE49-F238E27FC236}">
                <a16:creationId xmlns:a16="http://schemas.microsoft.com/office/drawing/2014/main" id="{383AA182-415D-EBBA-1523-3B2F92FDD872}"/>
              </a:ext>
            </a:extLst>
          </p:cNvPr>
          <p:cNvSpPr/>
          <p:nvPr/>
        </p:nvSpPr>
        <p:spPr>
          <a:xfrm>
            <a:off x="0" y="6454748"/>
            <a:ext cx="9144000" cy="4032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CO" sz="900" b="1" i="0" noProof="0" dirty="0">
                <a:solidFill>
                  <a:srgbClr val="FFFFFF"/>
                </a:solidFill>
              </a:rPr>
              <a:t>The OAS Summit </a:t>
            </a:r>
            <a:r>
              <a:rPr lang="es-CO" sz="900" b="1" i="0" noProof="0" dirty="0" err="1">
                <a:solidFill>
                  <a:srgbClr val="FFFFFF"/>
                </a:solidFill>
              </a:rPr>
              <a:t>of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for</a:t>
            </a:r>
            <a:r>
              <a:rPr lang="es-CO" sz="900" b="1" i="0" noProof="0" dirty="0">
                <a:solidFill>
                  <a:srgbClr val="FFFFFF"/>
                </a:solidFill>
              </a:rPr>
              <a:t> the Americas. </a:t>
            </a:r>
            <a:r>
              <a:rPr lang="es-CO" sz="900" b="0" i="0" noProof="0" dirty="0">
                <a:solidFill>
                  <a:srgbClr val="FFFFFF"/>
                </a:solidFill>
              </a:rPr>
              <a:t>24th LACCEI International </a:t>
            </a:r>
            <a:r>
              <a:rPr lang="es-CO" sz="1000" b="0" i="0" noProof="0" dirty="0">
                <a:solidFill>
                  <a:srgbClr val="FFFFFF"/>
                </a:solidFill>
              </a:rPr>
              <a:t>Multi-</a:t>
            </a:r>
            <a:r>
              <a:rPr lang="es-CO" sz="1000" b="0" i="0" noProof="0" dirty="0" err="1">
                <a:solidFill>
                  <a:srgbClr val="FFFFFF"/>
                </a:solidFill>
              </a:rPr>
              <a:t>Conference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for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0" noProof="0" dirty="0">
                <a:solidFill>
                  <a:srgbClr val="FFFFFF"/>
                </a:solidFill>
              </a:rPr>
              <a:t>, </a:t>
            </a:r>
            <a:r>
              <a:rPr lang="es-CO" sz="900" b="0" i="0" noProof="0" dirty="0" err="1">
                <a:solidFill>
                  <a:srgbClr val="FFFFFF"/>
                </a:solidFill>
              </a:rPr>
              <a:t>Education</a:t>
            </a:r>
            <a:r>
              <a:rPr lang="es-CO" sz="900" b="0" i="0" noProof="0" dirty="0">
                <a:solidFill>
                  <a:srgbClr val="FFFFFF"/>
                </a:solidFill>
              </a:rPr>
              <a:t>, and </a:t>
            </a:r>
            <a:r>
              <a:rPr lang="es-CO" sz="900" b="0" i="0" noProof="0" dirty="0" err="1">
                <a:solidFill>
                  <a:srgbClr val="FFFFFF"/>
                </a:solidFill>
              </a:rPr>
              <a:t>Technology</a:t>
            </a:r>
            <a:r>
              <a:rPr lang="es-CO" sz="900" b="0" i="0" noProof="0" dirty="0">
                <a:solidFill>
                  <a:srgbClr val="FFFFFF"/>
                </a:solidFill>
              </a:rPr>
              <a:t>: </a:t>
            </a:r>
            <a:r>
              <a:rPr lang="es-CO" sz="900" b="0" i="1" noProof="0" dirty="0">
                <a:solidFill>
                  <a:srgbClr val="FFFFFF"/>
                </a:solidFill>
              </a:rPr>
              <a:t>“</a:t>
            </a:r>
            <a:r>
              <a:rPr lang="es-CO" sz="900" b="0" i="1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without</a:t>
            </a:r>
            <a:endParaRPr lang="es-CO" sz="900" b="0" i="1" noProof="0" dirty="0">
              <a:solidFill>
                <a:srgbClr val="FFFFFF"/>
              </a:solidFill>
            </a:endParaRPr>
          </a:p>
          <a:p>
            <a:pPr algn="ctr"/>
            <a:r>
              <a:rPr lang="es-CO" sz="900" b="0" i="1" noProof="0" dirty="0">
                <a:solidFill>
                  <a:srgbClr val="FFFFFF"/>
                </a:solidFill>
              </a:rPr>
              <a:t> Borders: Artificial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Intelligence</a:t>
            </a:r>
            <a:r>
              <a:rPr lang="es-CO" sz="900" b="0" i="1" noProof="0" dirty="0">
                <a:solidFill>
                  <a:srgbClr val="FFFFFF"/>
                </a:solidFill>
              </a:rPr>
              <a:t>, Knowledge,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Innovation</a:t>
            </a:r>
            <a:r>
              <a:rPr lang="es-CO" sz="900" b="0" i="1" noProof="0" dirty="0">
                <a:solidFill>
                  <a:srgbClr val="FFFFFF"/>
                </a:solidFill>
              </a:rPr>
              <a:t>, and </a:t>
            </a:r>
            <a:r>
              <a:rPr lang="es-CO" sz="900" b="0" i="1" noProof="0" dirty="0" err="1">
                <a:solidFill>
                  <a:srgbClr val="FFFFFF"/>
                </a:solidFill>
              </a:rPr>
              <a:t>Alliances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for</a:t>
            </a:r>
            <a:r>
              <a:rPr lang="es-CO" sz="900" b="0" i="1" noProof="0" dirty="0">
                <a:solidFill>
                  <a:srgbClr val="FFFFFF"/>
                </a:solidFill>
              </a:rPr>
              <a:t> a Future </a:t>
            </a:r>
            <a:r>
              <a:rPr lang="es-CO" sz="900" b="0" i="1" noProof="0" dirty="0" err="1">
                <a:solidFill>
                  <a:srgbClr val="FFFFFF"/>
                </a:solidFill>
              </a:rPr>
              <a:t>from</a:t>
            </a:r>
            <a:r>
              <a:rPr lang="es-CO" sz="900" b="0" i="1" noProof="0" dirty="0">
                <a:solidFill>
                  <a:srgbClr val="FFFFFF"/>
                </a:solidFill>
              </a:rPr>
              <a:t> the Americas”</a:t>
            </a:r>
            <a:r>
              <a:rPr lang="es-CO" sz="900" b="0" i="0" noProof="0" dirty="0">
                <a:solidFill>
                  <a:srgbClr val="FFFFFF"/>
                </a:solidFill>
              </a:rPr>
              <a:t>. </a:t>
            </a:r>
            <a:r>
              <a:rPr lang="es-CO" sz="900" b="0" i="0" noProof="0" dirty="0" err="1">
                <a:solidFill>
                  <a:srgbClr val="FFFFFF"/>
                </a:solidFill>
              </a:rPr>
              <a:t>Hybrid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Event</a:t>
            </a:r>
            <a:r>
              <a:rPr lang="es-CO" sz="900" b="0" i="0" noProof="0" dirty="0">
                <a:solidFill>
                  <a:srgbClr val="FFFFFF"/>
                </a:solidFill>
              </a:rPr>
              <a:t>, Santiago-Chile, </a:t>
            </a:r>
            <a:r>
              <a:rPr lang="es-CO" sz="900" b="0" i="0" noProof="0" dirty="0" err="1">
                <a:solidFill>
                  <a:srgbClr val="FFFFFF"/>
                </a:solidFill>
              </a:rPr>
              <a:t>July</a:t>
            </a:r>
            <a:r>
              <a:rPr lang="es-CO" sz="900" b="0" i="0" noProof="0" dirty="0">
                <a:solidFill>
                  <a:srgbClr val="FFFFFF"/>
                </a:solidFill>
              </a:rPr>
              <a:t> 15 - 17,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ayout1_im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8275" y="63093"/>
            <a:ext cx="1362456" cy="745236"/>
          </a:xfrm>
          <a:prstGeom prst="rect">
            <a:avLst/>
          </a:prstGeom>
        </p:spPr>
      </p:pic>
      <p:sp>
        <p:nvSpPr>
          <p:cNvPr id="998" name="LeftBar"/>
          <p:cNvSpPr/>
          <p:nvPr/>
        </p:nvSpPr>
        <p:spPr>
          <a:xfrm>
            <a:off x="399960" y="365040"/>
            <a:ext cx="0" cy="1978200"/>
          </a:xfrm>
          <a:prstGeom prst="line">
            <a:avLst/>
          </a:prstGeom>
          <a:ln w="57240">
            <a:solidFill>
              <a:srgbClr val="404040"/>
            </a:solidFill>
            <a:miter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00" name="TextBox 999"/>
          <p:cNvSpPr txBox="1"/>
          <p:nvPr/>
        </p:nvSpPr>
        <p:spPr>
          <a:xfrm>
            <a:off x="628192" y="364845"/>
            <a:ext cx="62407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100" b="1" i="0" noProof="0" dirty="0">
                <a:solidFill>
                  <a:srgbClr val="1E3A5F"/>
                </a:solidFill>
              </a:rPr>
              <a:t>¡Gracias por su atención!</a:t>
            </a:r>
          </a:p>
        </p:txBody>
      </p:sp>
      <p:sp>
        <p:nvSpPr>
          <p:cNvPr id="1001" name="Rectangle 1000"/>
          <p:cNvSpPr/>
          <p:nvPr/>
        </p:nvSpPr>
        <p:spPr>
          <a:xfrm>
            <a:off x="628192" y="1920240"/>
            <a:ext cx="7886700" cy="36576"/>
          </a:xfrm>
          <a:prstGeom prst="rect">
            <a:avLst/>
          </a:prstGeom>
          <a:solidFill>
            <a:srgbClr val="007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2" name="TextBox 1001"/>
          <p:cNvSpPr txBox="1"/>
          <p:nvPr/>
        </p:nvSpPr>
        <p:spPr>
          <a:xfrm>
            <a:off x="628192" y="2103120"/>
            <a:ext cx="78867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600" b="0" i="1" noProof="0" dirty="0">
                <a:solidFill>
                  <a:srgbClr val="607080"/>
                </a:solidFill>
              </a:rPr>
              <a:t>Preguntas y comentarios son bienvenidos.</a:t>
            </a:r>
          </a:p>
        </p:txBody>
      </p:sp>
      <p:sp>
        <p:nvSpPr>
          <p:cNvPr id="1003" name="Rectangle 1002"/>
          <p:cNvSpPr/>
          <p:nvPr/>
        </p:nvSpPr>
        <p:spPr>
          <a:xfrm>
            <a:off x="628192" y="2926080"/>
            <a:ext cx="7886700" cy="15544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4" name="TextBox 1003"/>
          <p:cNvSpPr txBox="1"/>
          <p:nvPr/>
        </p:nvSpPr>
        <p:spPr>
          <a:xfrm>
            <a:off x="902512" y="3035808"/>
            <a:ext cx="73380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600" b="1" i="0" noProof="0" dirty="0">
                <a:solidFill>
                  <a:srgbClr val="1E3A5F"/>
                </a:solidFill>
              </a:rPr>
              <a:t>Ignacio Joaquín Pérez Chaves</a:t>
            </a:r>
          </a:p>
          <a:p>
            <a:pPr algn="l"/>
            <a:r>
              <a:rPr lang="es-CO" sz="1200" b="0" i="0" noProof="0" dirty="0"/>
              <a:t>Institución Universitaria (ITM)  ·  Medellín, Colombia</a:t>
            </a:r>
          </a:p>
          <a:p>
            <a:pPr algn="l"/>
            <a:r>
              <a:rPr lang="es-CO" sz="1200" b="0" i="0" noProof="0" dirty="0">
                <a:solidFill>
                  <a:srgbClr val="607080"/>
                </a:solidFill>
              </a:rPr>
              <a:t>Programa de Ingeniería en Ciencia de Datos·  LACCEI 2026</a:t>
            </a:r>
          </a:p>
        </p:txBody>
      </p:sp>
      <p:sp>
        <p:nvSpPr>
          <p:cNvPr id="1005" name="Rectangle 1004"/>
          <p:cNvSpPr/>
          <p:nvPr/>
        </p:nvSpPr>
        <p:spPr>
          <a:xfrm>
            <a:off x="628192" y="4645152"/>
            <a:ext cx="788670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06" name="TextBox 1005"/>
          <p:cNvSpPr txBox="1"/>
          <p:nvPr/>
        </p:nvSpPr>
        <p:spPr>
          <a:xfrm>
            <a:off x="811072" y="4754880"/>
            <a:ext cx="7520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1" i="0" noProof="0" dirty="0">
                <a:solidFill>
                  <a:srgbClr val="FFFFFF"/>
                </a:solidFill>
              </a:rPr>
              <a:t>Paper: </a:t>
            </a:r>
          </a:p>
          <a:p>
            <a:pPr algn="l"/>
            <a:r>
              <a:rPr lang="es-CO" sz="1200" b="0" i="1" noProof="0" dirty="0">
                <a:solidFill>
                  <a:srgbClr val="F0F4F8"/>
                </a:solidFill>
              </a:rPr>
              <a:t>"</a:t>
            </a:r>
            <a:r>
              <a:rPr lang="es-CO" sz="1200" b="0" i="1" noProof="0" dirty="0" err="1">
                <a:solidFill>
                  <a:srgbClr val="F0F4F8"/>
                </a:solidFill>
              </a:rPr>
              <a:t>Academic</a:t>
            </a:r>
            <a:r>
              <a:rPr lang="es-CO" sz="1200" b="0" i="1" noProof="0" dirty="0">
                <a:solidFill>
                  <a:srgbClr val="F0F4F8"/>
                </a:solidFill>
              </a:rPr>
              <a:t> Performance, Course Load, and Student </a:t>
            </a:r>
            <a:r>
              <a:rPr lang="es-CO" sz="1200" b="0" i="1" noProof="0" dirty="0" err="1">
                <a:solidFill>
                  <a:srgbClr val="F0F4F8"/>
                </a:solidFill>
              </a:rPr>
              <a:t>Persistence</a:t>
            </a:r>
            <a:r>
              <a:rPr lang="es-CO" sz="1200" b="0" i="1" noProof="0" dirty="0">
                <a:solidFill>
                  <a:srgbClr val="F0F4F8"/>
                </a:solidFill>
              </a:rPr>
              <a:t>: A Longitudinal </a:t>
            </a:r>
            <a:r>
              <a:rPr lang="es-CO" sz="1200" b="0" i="1" noProof="0" dirty="0" err="1">
                <a:solidFill>
                  <a:srgbClr val="F0F4F8"/>
                </a:solidFill>
              </a:rPr>
              <a:t>Modeling</a:t>
            </a:r>
            <a:r>
              <a:rPr lang="es-CO" sz="1200" b="0" i="1" noProof="0" dirty="0">
                <a:solidFill>
                  <a:srgbClr val="F0F4F8"/>
                </a:solidFill>
              </a:rPr>
              <a:t> </a:t>
            </a:r>
            <a:r>
              <a:rPr lang="es-CO" sz="1200" b="0" i="1" noProof="0" dirty="0" err="1">
                <a:solidFill>
                  <a:srgbClr val="F0F4F8"/>
                </a:solidFill>
              </a:rPr>
              <a:t>of</a:t>
            </a:r>
            <a:r>
              <a:rPr lang="es-CO" sz="1200" b="0" i="1" noProof="0" dirty="0">
                <a:solidFill>
                  <a:srgbClr val="F0F4F8"/>
                </a:solidFill>
              </a:rPr>
              <a:t> </a:t>
            </a:r>
            <a:r>
              <a:rPr lang="es-CO" sz="1200" b="0" i="1" noProof="0" dirty="0" err="1">
                <a:solidFill>
                  <a:srgbClr val="F0F4F8"/>
                </a:solidFill>
              </a:rPr>
              <a:t>Academic</a:t>
            </a:r>
            <a:r>
              <a:rPr lang="es-CO" sz="1200" b="0" i="1" noProof="0" dirty="0">
                <a:solidFill>
                  <a:srgbClr val="F0F4F8"/>
                </a:solidFill>
              </a:rPr>
              <a:t> </a:t>
            </a:r>
            <a:r>
              <a:rPr lang="es-CO" sz="1200" b="0" i="1" noProof="0" dirty="0" err="1">
                <a:solidFill>
                  <a:srgbClr val="F0F4F8"/>
                </a:solidFill>
              </a:rPr>
              <a:t>Trajectories</a:t>
            </a:r>
            <a:r>
              <a:rPr lang="es-CO" sz="1200" b="0" i="1" noProof="0" dirty="0">
                <a:solidFill>
                  <a:srgbClr val="F0F4F8"/>
                </a:solidFill>
              </a:rPr>
              <a:t> in </a:t>
            </a:r>
            <a:r>
              <a:rPr lang="es-CO" sz="1200" b="0" i="1" noProof="0" dirty="0" err="1">
                <a:solidFill>
                  <a:srgbClr val="F0F4F8"/>
                </a:solidFill>
              </a:rPr>
              <a:t>an</a:t>
            </a:r>
            <a:r>
              <a:rPr lang="es-CO" sz="1200" b="0" i="1" noProof="0" dirty="0">
                <a:solidFill>
                  <a:srgbClr val="F0F4F8"/>
                </a:solidFill>
              </a:rPr>
              <a:t> </a:t>
            </a:r>
            <a:r>
              <a:rPr lang="es-CO" sz="1200" b="0" i="1" noProof="0" dirty="0" err="1">
                <a:solidFill>
                  <a:srgbClr val="F0F4F8"/>
                </a:solidFill>
              </a:rPr>
              <a:t>Engineering</a:t>
            </a:r>
            <a:r>
              <a:rPr lang="es-CO" sz="1200" b="0" i="1" noProof="0" dirty="0">
                <a:solidFill>
                  <a:srgbClr val="F0F4F8"/>
                </a:solidFill>
              </a:rPr>
              <a:t> </a:t>
            </a:r>
            <a:r>
              <a:rPr lang="es-CO" sz="1200" b="0" i="1" noProof="0" dirty="0" err="1">
                <a:solidFill>
                  <a:srgbClr val="F0F4F8"/>
                </a:solidFill>
              </a:rPr>
              <a:t>Program</a:t>
            </a:r>
            <a:r>
              <a:rPr lang="es-CO" sz="1200" b="0" i="1" noProof="0" dirty="0">
                <a:solidFill>
                  <a:srgbClr val="F0F4F8"/>
                </a:solidFill>
              </a:rPr>
              <a:t>"  |  LACCEI 2026, Santiago de Chile</a:t>
            </a:r>
          </a:p>
        </p:txBody>
      </p:sp>
      <p:sp>
        <p:nvSpPr>
          <p:cNvPr id="4" name="Rectangle 998">
            <a:extLst>
              <a:ext uri="{FF2B5EF4-FFF2-40B4-BE49-F238E27FC236}">
                <a16:creationId xmlns:a16="http://schemas.microsoft.com/office/drawing/2014/main" id="{AB155E0B-69E4-380B-031B-0C3554DDDACA}"/>
              </a:ext>
            </a:extLst>
          </p:cNvPr>
          <p:cNvSpPr/>
          <p:nvPr/>
        </p:nvSpPr>
        <p:spPr>
          <a:xfrm>
            <a:off x="0" y="6454748"/>
            <a:ext cx="9144000" cy="40325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s-CO" sz="900" b="1" i="0" noProof="0" dirty="0">
                <a:solidFill>
                  <a:srgbClr val="FFFFFF"/>
                </a:solidFill>
              </a:rPr>
              <a:t>The OAS Summit </a:t>
            </a:r>
            <a:r>
              <a:rPr lang="es-CO" sz="900" b="1" i="0" noProof="0" dirty="0" err="1">
                <a:solidFill>
                  <a:srgbClr val="FFFFFF"/>
                </a:solidFill>
              </a:rPr>
              <a:t>of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1" i="0" noProof="0" dirty="0">
                <a:solidFill>
                  <a:srgbClr val="FFFFFF"/>
                </a:solidFill>
              </a:rPr>
              <a:t> </a:t>
            </a:r>
            <a:r>
              <a:rPr lang="es-CO" sz="900" b="1" i="0" noProof="0" dirty="0" err="1">
                <a:solidFill>
                  <a:srgbClr val="FFFFFF"/>
                </a:solidFill>
              </a:rPr>
              <a:t>for</a:t>
            </a:r>
            <a:r>
              <a:rPr lang="es-CO" sz="900" b="1" i="0" noProof="0" dirty="0">
                <a:solidFill>
                  <a:srgbClr val="FFFFFF"/>
                </a:solidFill>
              </a:rPr>
              <a:t> the Americas. </a:t>
            </a:r>
            <a:r>
              <a:rPr lang="es-CO" sz="900" b="0" i="0" noProof="0" dirty="0">
                <a:solidFill>
                  <a:srgbClr val="FFFFFF"/>
                </a:solidFill>
              </a:rPr>
              <a:t>24th LACCEI International </a:t>
            </a:r>
            <a:r>
              <a:rPr lang="es-CO" sz="1000" b="0" i="0" noProof="0" dirty="0">
                <a:solidFill>
                  <a:srgbClr val="FFFFFF"/>
                </a:solidFill>
              </a:rPr>
              <a:t>Multi-</a:t>
            </a:r>
            <a:r>
              <a:rPr lang="es-CO" sz="1000" b="0" i="0" noProof="0" dirty="0" err="1">
                <a:solidFill>
                  <a:srgbClr val="FFFFFF"/>
                </a:solidFill>
              </a:rPr>
              <a:t>Conference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for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0" noProof="0" dirty="0">
                <a:solidFill>
                  <a:srgbClr val="FFFFFF"/>
                </a:solidFill>
              </a:rPr>
              <a:t>, </a:t>
            </a:r>
            <a:r>
              <a:rPr lang="es-CO" sz="900" b="0" i="0" noProof="0" dirty="0" err="1">
                <a:solidFill>
                  <a:srgbClr val="FFFFFF"/>
                </a:solidFill>
              </a:rPr>
              <a:t>Education</a:t>
            </a:r>
            <a:r>
              <a:rPr lang="es-CO" sz="900" b="0" i="0" noProof="0" dirty="0">
                <a:solidFill>
                  <a:srgbClr val="FFFFFF"/>
                </a:solidFill>
              </a:rPr>
              <a:t>, and </a:t>
            </a:r>
            <a:r>
              <a:rPr lang="es-CO" sz="900" b="0" i="0" noProof="0" dirty="0" err="1">
                <a:solidFill>
                  <a:srgbClr val="FFFFFF"/>
                </a:solidFill>
              </a:rPr>
              <a:t>Technology</a:t>
            </a:r>
            <a:r>
              <a:rPr lang="es-CO" sz="900" b="0" i="0" noProof="0" dirty="0">
                <a:solidFill>
                  <a:srgbClr val="FFFFFF"/>
                </a:solidFill>
              </a:rPr>
              <a:t>: </a:t>
            </a:r>
            <a:r>
              <a:rPr lang="es-CO" sz="900" b="0" i="1" noProof="0" dirty="0">
                <a:solidFill>
                  <a:srgbClr val="FFFFFF"/>
                </a:solidFill>
              </a:rPr>
              <a:t>“</a:t>
            </a:r>
            <a:r>
              <a:rPr lang="es-CO" sz="900" b="0" i="1" noProof="0" dirty="0" err="1">
                <a:solidFill>
                  <a:srgbClr val="FFFFFF"/>
                </a:solidFill>
              </a:rPr>
              <a:t>Engineering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without</a:t>
            </a:r>
            <a:endParaRPr lang="es-CO" sz="900" b="0" i="1" noProof="0" dirty="0">
              <a:solidFill>
                <a:srgbClr val="FFFFFF"/>
              </a:solidFill>
            </a:endParaRPr>
          </a:p>
          <a:p>
            <a:pPr algn="ctr"/>
            <a:r>
              <a:rPr lang="es-CO" sz="900" b="0" i="1" noProof="0" dirty="0">
                <a:solidFill>
                  <a:srgbClr val="FFFFFF"/>
                </a:solidFill>
              </a:rPr>
              <a:t> Borders: Artificial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Intelligence</a:t>
            </a:r>
            <a:r>
              <a:rPr lang="es-CO" sz="900" b="0" i="1" noProof="0" dirty="0">
                <a:solidFill>
                  <a:srgbClr val="FFFFFF"/>
                </a:solidFill>
              </a:rPr>
              <a:t>, Knowledge, </a:t>
            </a:r>
            <a:r>
              <a:rPr lang="es-CO" sz="900" b="0" i="1" noProof="0" dirty="0" err="1">
                <a:solidFill>
                  <a:srgbClr val="FFFFFF"/>
                </a:solidFill>
              </a:rPr>
              <a:t>Innovation</a:t>
            </a:r>
            <a:r>
              <a:rPr lang="es-CO" sz="900" b="0" i="1" noProof="0" dirty="0">
                <a:solidFill>
                  <a:srgbClr val="FFFFFF"/>
                </a:solidFill>
              </a:rPr>
              <a:t>, and </a:t>
            </a:r>
            <a:r>
              <a:rPr lang="es-CO" sz="900" b="0" i="1" noProof="0" dirty="0" err="1">
                <a:solidFill>
                  <a:srgbClr val="FFFFFF"/>
                </a:solidFill>
              </a:rPr>
              <a:t>Alliances</a:t>
            </a:r>
            <a:r>
              <a:rPr lang="es-CO" sz="900" b="0" i="1" noProof="0" dirty="0">
                <a:solidFill>
                  <a:srgbClr val="FFFFFF"/>
                </a:solidFill>
              </a:rPr>
              <a:t> </a:t>
            </a:r>
            <a:r>
              <a:rPr lang="es-CO" sz="900" b="0" i="1" noProof="0" dirty="0" err="1">
                <a:solidFill>
                  <a:srgbClr val="FFFFFF"/>
                </a:solidFill>
              </a:rPr>
              <a:t>for</a:t>
            </a:r>
            <a:r>
              <a:rPr lang="es-CO" sz="900" b="0" i="1" noProof="0" dirty="0">
                <a:solidFill>
                  <a:srgbClr val="FFFFFF"/>
                </a:solidFill>
              </a:rPr>
              <a:t> a Future </a:t>
            </a:r>
            <a:r>
              <a:rPr lang="es-CO" sz="900" b="0" i="1" noProof="0" dirty="0" err="1">
                <a:solidFill>
                  <a:srgbClr val="FFFFFF"/>
                </a:solidFill>
              </a:rPr>
              <a:t>from</a:t>
            </a:r>
            <a:r>
              <a:rPr lang="es-CO" sz="900" b="0" i="1" noProof="0" dirty="0">
                <a:solidFill>
                  <a:srgbClr val="FFFFFF"/>
                </a:solidFill>
              </a:rPr>
              <a:t> the Americas”</a:t>
            </a:r>
            <a:r>
              <a:rPr lang="es-CO" sz="900" b="0" i="0" noProof="0" dirty="0">
                <a:solidFill>
                  <a:srgbClr val="FFFFFF"/>
                </a:solidFill>
              </a:rPr>
              <a:t>. </a:t>
            </a:r>
            <a:r>
              <a:rPr lang="es-CO" sz="900" b="0" i="0" noProof="0" dirty="0" err="1">
                <a:solidFill>
                  <a:srgbClr val="FFFFFF"/>
                </a:solidFill>
              </a:rPr>
              <a:t>Hybrid</a:t>
            </a:r>
            <a:r>
              <a:rPr lang="es-CO" sz="900" b="0" i="0" noProof="0" dirty="0">
                <a:solidFill>
                  <a:srgbClr val="FFFFFF"/>
                </a:solidFill>
              </a:rPr>
              <a:t> </a:t>
            </a:r>
            <a:r>
              <a:rPr lang="es-CO" sz="900" b="0" i="0" noProof="0" dirty="0" err="1">
                <a:solidFill>
                  <a:srgbClr val="FFFFFF"/>
                </a:solidFill>
              </a:rPr>
              <a:t>Event</a:t>
            </a:r>
            <a:r>
              <a:rPr lang="es-CO" sz="900" b="0" i="0" noProof="0" dirty="0">
                <a:solidFill>
                  <a:srgbClr val="FFFFFF"/>
                </a:solidFill>
              </a:rPr>
              <a:t>, Santiago-Chile, </a:t>
            </a:r>
            <a:r>
              <a:rPr lang="es-CO" sz="900" b="0" i="0" noProof="0" dirty="0" err="1">
                <a:solidFill>
                  <a:srgbClr val="FFFFFF"/>
                </a:solidFill>
              </a:rPr>
              <a:t>July</a:t>
            </a:r>
            <a:r>
              <a:rPr lang="es-CO" sz="900" b="0" i="0" noProof="0" dirty="0">
                <a:solidFill>
                  <a:srgbClr val="FFFFFF"/>
                </a:solidFill>
              </a:rPr>
              <a:t> 15 - 17,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23616</TotalTime>
  <Words>1365</Words>
  <Application>Microsoft Office PowerPoint</Application>
  <PresentationFormat>Presentación en pantalla (4:3)</PresentationFormat>
  <Paragraphs>139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Ignacio Perez</dc:creator>
  <cp:keywords/>
  <dc:description>generated using python-pptx</dc:description>
  <cp:lastModifiedBy>IGNACIO JOAQUIN PEREZ CHAVES</cp:lastModifiedBy>
  <cp:revision>10</cp:revision>
  <dcterms:created xsi:type="dcterms:W3CDTF">2013-01-27T09:14:16Z</dcterms:created>
  <dcterms:modified xsi:type="dcterms:W3CDTF">2026-07-13T14:24:38Z</dcterms:modified>
  <cp:category/>
</cp:coreProperties>
</file>